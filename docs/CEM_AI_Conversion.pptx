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821E"/>
                </a:solidFill>
                <a:latin typeface="Segoe UI"/>
              </a:rPr>
              <a:t>CHESS TECHNICAL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Bringing the Coastal Engineering Manual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to the Web with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2377440" cy="45720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FDCE3"/>
                </a:solidFill>
                <a:latin typeface="Segoe UI"/>
              </a:rPr>
              <a:t>A fully automated, automatically checked pipeline that converts EM 1110-2-1100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FDCE3"/>
                </a:solidFill>
                <a:latin typeface="Segoe UI"/>
              </a:rPr>
              <a:t>(about 3,700 pages) into accurate, web-readable Markdown and 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8821E"/>
                </a:solidFill>
                <a:latin typeface="Segoe UI"/>
              </a:rPr>
              <a:t>USACE Coastal Engineering Manual  ·  coastal-hazards-system.github.io/CHESS-Technical-Guidance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A 3,700-page reference, locked in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852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EM 1110-2-1100: six Parts plus an appendix glossary, about 3,700 pages, delivered as Adobe PDF Portfolios.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Thousands of numbered equations, hundreds of multi-tier tables, and over 1,100 figures.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The goal: accurate, web-readable Markdown and HTML, with equations as real LaTeX (never images), tables as Markdown, and figures linked.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Why it is hard: the old math fonts store symbols in non-standard ways, and some equations (Part II) are line drawings with no text behind them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74519"/>
            <a:ext cx="4663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1488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Faithful = every element renders correctly as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971800"/>
            <a:ext cx="4023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A7D8C"/>
                </a:solidFill>
                <a:latin typeface="Segoe UI"/>
              </a:rPr>
              <a:t>▪  </a:t>
            </a:r>
            <a:r>
              <a:rPr sz="1500" b="0">
                <a:solidFill>
                  <a:srgbClr val="23282D"/>
                </a:solidFill>
                <a:latin typeface="Segoe UI"/>
              </a:rPr>
              <a:t>Text &amp; headings — numbering kept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A7D8C"/>
                </a:solidFill>
                <a:latin typeface="Segoe UI"/>
              </a:rPr>
              <a:t>▪  </a:t>
            </a:r>
            <a:r>
              <a:rPr sz="1500" b="0">
                <a:solidFill>
                  <a:srgbClr val="23282D"/>
                </a:solidFill>
                <a:latin typeface="Segoe UI"/>
              </a:rPr>
              <a:t>Equations — real KaTeX / MathJax LaTeX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A7D8C"/>
                </a:solidFill>
                <a:latin typeface="Segoe UI"/>
              </a:rPr>
              <a:t>▪  </a:t>
            </a:r>
            <a:r>
              <a:rPr sz="1500" b="0">
                <a:solidFill>
                  <a:srgbClr val="23282D"/>
                </a:solidFill>
                <a:latin typeface="Segoe UI"/>
              </a:rPr>
              <a:t>Tables — accurate Markdown pipe tables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A7D8C"/>
                </a:solidFill>
                <a:latin typeface="Segoe UI"/>
              </a:rPr>
              <a:t>▪  </a:t>
            </a:r>
            <a:r>
              <a:rPr sz="1500" b="0">
                <a:solidFill>
                  <a:srgbClr val="23282D"/>
                </a:solidFill>
                <a:latin typeface="Segoe UI"/>
              </a:rPr>
              <a:t>Figures — exported PNGs with captions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The full manual, converted at 100%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91440" cy="1554480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A7D8C"/>
                </a:solidFill>
                <a:latin typeface="Segoe UI"/>
              </a:rPr>
              <a:t>2,377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07208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equations verified, 100% (0 flagged)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91440" cy="155448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3055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7D46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807208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equations that fail to 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91440" cy="155448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7D46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807208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leftover unreadable font codes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659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65960"/>
            <a:ext cx="91440" cy="155448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13055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7D46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07208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broken figure or cross-reference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91440" cy="155448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13631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C8821E"/>
                </a:solidFill>
                <a:latin typeface="Segoe UI"/>
              </a:rPr>
              <a:t>444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90287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tables recreated as Markdown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749039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749039"/>
            <a:ext cx="91440" cy="155448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913631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C8821E"/>
                </a:solidFill>
                <a:latin typeface="Segoe UI"/>
              </a:rPr>
              <a:t>1,161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8" y="4590287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figures exported and linked with captions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49039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39"/>
            <a:ext cx="91440" cy="1554480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13631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3A4F"/>
                </a:solidFill>
                <a:latin typeface="Segoe UI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590287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chapters live on the public website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749039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749039"/>
            <a:ext cx="91440" cy="155448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913631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7D46"/>
                </a:solidFill>
                <a:latin typeface="Segoe UI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4590287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82D"/>
                </a:solidFill>
                <a:latin typeface="Segoe UI"/>
              </a:rPr>
              <a:t>of the math displays correctly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3282D"/>
                </a:solidFill>
                <a:latin typeface="Segoe UI"/>
              </a:rPr>
              <a:t>Live now:  </a:t>
            </a:r>
            <a:r>
              <a:rPr sz="1500" b="0">
                <a:solidFill>
                  <a:srgbClr val="2A7D8C"/>
                </a:solidFill>
                <a:latin typeface="Segoe UI"/>
              </a:rPr>
              <a:t>coastal-hazards-system.github.io/CHESS-Technical-Guidance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Why AI — and why verification comes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The size of the manual and the density of the math make page-by-page retyping impractical, but an engineering reference cannot ship a wrong coefficient.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So the system follows one rule: never publish anything it has not checked, and flag (with evidence) the few items it genuinely cannot verify.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3566160" cy="109728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7D8C"/>
                </a:solidFill>
                <a:latin typeface="Segoe UI"/>
              </a:rPr>
              <a:t>Checks its own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177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Every equation is displayed and its symbols are checked against the PDF before it is published. Nothing that passes needs a person to review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3840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3840480"/>
            <a:ext cx="3566160" cy="109728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Anchored to the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46177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The text already stored in the PDF is the reference. Two separate engines must agree before a result is accepted.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3840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3840480"/>
            <a:ext cx="3566160" cy="109728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D3A4F"/>
                </a:solidFill>
                <a:latin typeface="Segoe UI"/>
              </a:rPr>
              <a:t>Honest about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46177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Anything it cannot verify is flagged with evidence, not quietly guessed, so reviewers spend time only where it matters.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FDCE3"/>
                </a:solidFill>
                <a:latin typeface="Segoe UI"/>
              </a:rPr>
              <a:t>How the pipeline reads each page with two engines, cross-checks the result,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FDCE3"/>
                </a:solidFill>
                <a:latin typeface="Segoe UI"/>
              </a:rPr>
              <a:t>fixes what it can on its own, and cleans up the old fonts.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TECHNICAL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Eight stages, fully automated and resumable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91440" cy="95097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7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1 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9514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Pull the chapter PDFs out of the six Part files, remove duplicates, and build an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53511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53511"/>
            <a:ext cx="91440" cy="95097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39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2  Two-engine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74135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Marker reads the whole page (layout, tables, and equations). MinerU reads the equations again as an independent second opinion.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32503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32503"/>
            <a:ext cx="91440" cy="95097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1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3  Read symbols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7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Read the symbols already in the PDF text for each equation, giving an exact reference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5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11495"/>
            <a:ext cx="91440" cy="95097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21223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4 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19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Two checks: the LaTeX must display in KaTeX, and its symbols must match the PDF. Image compare as a backup.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91440" cy="950976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984247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5  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9514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For each equation, if the two readings agree and pass the checks, accept. Otherwise take a single passing reading, or self-correct.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953511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953511"/>
            <a:ext cx="91440" cy="950976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063239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6  Self-correct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5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A third reader (pix2tex) votes; if needed a local vision model re-reads the image and a repair step fixes the mismatch.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32503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032503"/>
            <a:ext cx="91440" cy="950976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42231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7  Tables &amp; figures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53127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Rebuild tables as Markdown (with a fallback method); export figures and match each to its caption.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111495"/>
            <a:ext cx="54406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111495"/>
            <a:ext cx="91440" cy="950976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221223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8  Assemble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32119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3282D"/>
                </a:solidFill>
                <a:latin typeface="Segoe UI"/>
              </a:rPr>
              <a:t>Combine everything into one Markdown file per chapter, plus a flagged-items file listing anything unverified.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STEP 2 — TWO-ENGINE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Two engines, read independently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120640" cy="640080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Marker (marker-pdf)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A7D8C"/>
                </a:solidFill>
                <a:latin typeface="Segoe UI"/>
              </a:rPr>
              <a:t>Document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350" b="0">
                <a:solidFill>
                  <a:srgbClr val="23282D"/>
                </a:solidFill>
                <a:latin typeface="Segoe UI"/>
              </a:rPr>
              <a:t>Reading order (handles two-column), headings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350" b="0">
                <a:solidFill>
                  <a:srgbClr val="23282D"/>
                </a:solidFill>
                <a:latin typeface="Segoe UI"/>
              </a:rPr>
              <a:t>Tables, figures, per-equation LaTeX + bboxes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5120640" cy="64008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756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MinerU (UniMERNet)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C8821E"/>
                </a:solidFill>
                <a:latin typeface="Segoe UI"/>
              </a:rPr>
              <a:t>Independent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350" b="0">
                <a:solidFill>
                  <a:srgbClr val="23282D"/>
                </a:solidFill>
                <a:latin typeface="Segoe UI"/>
              </a:rPr>
              <a:t>Re-reads each equation's LaTeX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350" b="0">
                <a:solidFill>
                  <a:srgbClr val="23282D"/>
                </a:solidFill>
                <a:latin typeface="Segoe UI"/>
              </a:rPr>
              <a:t>Runs as a separate program (avoids a library conflict)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A4F"/>
                </a:solidFill>
                <a:latin typeface="Segoe UI"/>
              </a:rPr>
              <a:t>Why two?  </a:t>
            </a:r>
            <a:r>
              <a:rPr sz="1600" b="0">
                <a:solidFill>
                  <a:srgbClr val="23282D"/>
                </a:solidFill>
                <a:latin typeface="Segoe UI"/>
              </a:rPr>
              <a:t>Separate engines fail in different ways. When both produce the same valid LaTeX, confidence is high. When they disagree, that is what triggers a closer look. Agreement between the two, not any single engine, is what the result rests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STEPS 3–4 — CHECKING AGAINST THE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The PDF checks the AI's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For each equation, the actual characters under its box are read straight from the PDF's own text, with no OCR needed.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These become the set of symbols that equation really contains (Greek letters, operators, digits): the reference fingerprint.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23282D"/>
                </a:solidFill>
                <a:latin typeface="Segoe UI"/>
              </a:rPr>
              <a:t>A LaTeX result is accepted only if it clears two hard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493776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8483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D46"/>
                </a:solidFill>
                <a:latin typeface="Segoe UI"/>
              </a:rPr>
              <a:t>CHECK 1 · It displays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487168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3282D"/>
                </a:solidFill>
                <a:latin typeface="Segoe UI"/>
              </a:rPr>
              <a:t>The LaTeX is rendered with KaTeX to confirm it displays. Anything that fails is never published.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429000"/>
            <a:ext cx="493776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5935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D46"/>
                </a:solidFill>
                <a:latin typeface="Segoe UI"/>
              </a:rPr>
              <a:t>CHECK 2 · It matches the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9592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3282D"/>
                </a:solidFill>
                <a:latin typeface="Segoe UI"/>
              </a:rPr>
              <a:t>The symbols in the LaTeX must match the symbols in the PDF, allowing at most one difference. This catches dropped terms and mis-read symbols.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Result:  </a:t>
            </a:r>
            <a:r>
              <a:rPr sz="1500" b="0">
                <a:solidFill>
                  <a:srgbClr val="23282D"/>
                </a:solidFill>
                <a:latin typeface="Segoe UI"/>
              </a:rPr>
              <a:t>an equation that displays but is wrong cannot slip through. It has to both display correctly and match what the page actually says.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STEPS 5–6 — DECISION &amp; SELF-CORRECTION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Agreement first, escalate only on doubt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57200" cy="603504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920240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Both engine readings 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20240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Accept (highest confidence)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33472"/>
            <a:ext cx="457200" cy="603504"/>
          </a:xfrm>
          <a:prstGeom prst="round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633472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633472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One reading passes the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33472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Accept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457200" cy="603504"/>
          </a:xfrm>
          <a:prstGeom prst="round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46704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346704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346704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Third reader (pix2tex) votes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46704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Breaks ties cheaply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59936"/>
            <a:ext cx="457200" cy="603504"/>
          </a:xfrm>
          <a:prstGeom prst="round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59936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059936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059936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Local vision model re-reads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059936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Reads the cropped image directly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73168"/>
            <a:ext cx="457200" cy="603504"/>
          </a:xfrm>
          <a:prstGeom prst="round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773168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773168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Focused repair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773168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Fixes the one symbol that was missed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457200" cy="603504"/>
          </a:xfrm>
          <a:prstGeom prst="roundRect">
            <a:avLst/>
          </a:prstGeom>
          <a:solidFill>
            <a:srgbClr val="A6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486400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5486400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D3A4F"/>
                </a:solidFill>
                <a:latin typeface="Segoe UI"/>
              </a:rPr>
              <a:t>Still fails the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486400"/>
            <a:ext cx="5669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Flag with full evidence, never guessed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PDF-based cleanup of the old fonts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7D8C"/>
                </a:solidFill>
                <a:latin typeface="Segoe UI"/>
              </a:rPr>
              <a:t>Predictable errors whose correct value sits in the PDF, fixed by repeatable rule-based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082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Old Greek font: Φ misread as “M”  (fix_prose)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5212080" cy="84124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A6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63D2E"/>
                </a:solidFill>
                <a:latin typeface="Segoe UI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the potential function, 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82696"/>
            <a:ext cx="5212080" cy="841248"/>
          </a:xfrm>
          <a:prstGeom prst="roundRect">
            <a:avLst/>
          </a:prstGeom>
          <a:solidFill>
            <a:srgbClr val="ECF5EF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2696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E7D46"/>
                </a:solidFill>
                <a:latin typeface="Segoe U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8269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the potential function, Φ.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1538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Subscripts and superscripts restored from the PDF  (fix_subscripts)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212080" cy="84124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A6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526280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63D2E"/>
                </a:solidFill>
                <a:latin typeface="Segoe UI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2628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U 5400      10-3      log10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77256"/>
            <a:ext cx="5212080" cy="841248"/>
          </a:xfrm>
          <a:prstGeom prst="roundRect">
            <a:avLst/>
          </a:prstGeom>
          <a:solidFill>
            <a:srgbClr val="ECF5EF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477256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E7D46"/>
                </a:solidFill>
                <a:latin typeface="Segoe UI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47725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$U_{5400}$   $10^{-3}$   $\log_{10}$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2082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Symbol font stuck in a private code range  (fix_symbol)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331720"/>
            <a:ext cx="5212080" cy="84124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A6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331720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63D2E"/>
                </a:solidFill>
                <a:latin typeface="Segoe UI"/>
              </a:rPr>
              <a:t>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317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     (unreadable codes)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282696"/>
            <a:ext cx="5212080" cy="841248"/>
          </a:xfrm>
          <a:prstGeom prst="roundRect">
            <a:avLst/>
          </a:prstGeom>
          <a:solidFill>
            <a:srgbClr val="ECF5EF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282696"/>
            <a:ext cx="868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E7D46"/>
                </a:solidFill>
                <a:latin typeface="Segoe UI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28269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Consolas"/>
              </a:rPr>
              <a:t>α β γ   (Unicode)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D3A4F"/>
                </a:solidFill>
                <a:latin typeface="Segoe UI"/>
              </a:rPr>
              <a:t>Also rebuilt from the PDF layout: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Tables of contents (nested), lists of figures and tables, “where:” definition lists, degree signs, and dollar amounts. Every pass is safe to re-run and gives the same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Faithfulness earned through layered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743200" cy="749808"/>
          </a:xfrm>
          <a:prstGeom prst="round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 ·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6829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C8821E"/>
                </a:solidFill>
                <a:latin typeface="Segoe UI"/>
              </a:rPr>
              <a:t>Every step, every chapter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8001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65960"/>
            <a:ext cx="7589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KaTeX checks, table sanity, text-coverage ratio, and link checks. Near-zero cost, runs constantly.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2743200" cy="749808"/>
          </a:xfrm>
          <a:prstGeom prst="round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0779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B ·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C8821E"/>
                </a:solidFill>
                <a:latin typeface="Segoe UI"/>
              </a:rPr>
              <a:t>After each major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834640"/>
            <a:ext cx="8001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834640"/>
            <a:ext cx="7589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Contact-sheet review of equations / tables / figures while context is fresh.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2743200" cy="749808"/>
          </a:xfrm>
          <a:prstGeom prst="round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76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C · Whole-chapter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C8821E"/>
                </a:solidFill>
                <a:latin typeface="Segoe UI"/>
              </a:rPr>
              <a:t>After assembly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703320"/>
            <a:ext cx="8001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3703320"/>
            <a:ext cx="7589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Side-by-side PDF ↔ HTML read for flow, ordering, orphaned captions, TOC artifacts.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2743200" cy="749808"/>
          </a:xfrm>
          <a:prstGeom prst="round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 · 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7433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C8821E"/>
                </a:solidFill>
                <a:latin typeface="Segoe UI"/>
              </a:rPr>
              <a:t>After the full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4572000"/>
            <a:ext cx="8001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572000"/>
            <a:ext cx="7589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Cross-chapter consistency: headings, notation, cross-refs, master index links.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40680"/>
            <a:ext cx="2743200" cy="749808"/>
          </a:xfrm>
          <a:prstGeom prst="round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1383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 · Sampling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4301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C8821E"/>
                </a:solidFill>
                <a:latin typeface="Segoe UI"/>
              </a:rPr>
              <a:t>Final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5440680"/>
            <a:ext cx="8001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5440680"/>
            <a:ext cx="7589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3282D"/>
                </a:solidFill>
                <a:latin typeface="Segoe UI"/>
              </a:rPr>
              <a:t>Random weighted sample scored against the PDF; failing chapters recycle through B/C.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Tooling &amp;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349240" cy="502920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482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Extraction &amp;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2432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7D8C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Marker (marker-pdf) — layout backbone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7D8C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MinerU (UniMERNet) — equation 2nd opinion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7D8C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pix2tex — cheap LaTeX-OCR vote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7D8C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PyMuPDF (fitz) — geometry &amp; figure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65960"/>
            <a:ext cx="5349240" cy="50292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482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2432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E7D46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KaTeX (via Node) — confirms it displays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E7D46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Symbol cross-check against the PDF 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E7D46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Image comparison (SSIM) — backup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349240" cy="50292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9709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Self-correction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7316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Local vision model (Ollama / qwen2.5-VL)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Focused repair prompts for a missed symbol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C8821E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Runs unattended on the GPU (RTX A4000)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349240" cy="502920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19709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77316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One .md per chapter + assets tree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build_site.py → GitHub Pages 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D3A4F"/>
                </a:solidFill>
                <a:latin typeface="Segoe UI"/>
              </a:rPr>
              <a:t>▪  </a:t>
            </a:r>
            <a:r>
              <a:rPr sz="1250" b="0">
                <a:solidFill>
                  <a:srgbClr val="23282D"/>
                </a:solidFill>
                <a:latin typeface="Segoe UI"/>
              </a:rPr>
              <a:t>marked.js + KaTeX viewer, client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821E"/>
                </a:solidFill>
                <a:latin typeface="Segoe UI"/>
              </a:rPr>
              <a:t>KNOWN GAPS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A4F"/>
                </a:solidFill>
                <a:latin typeface="Segoe UI"/>
              </a:rPr>
              <a:t>Known limitations and 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A63D2E"/>
                </a:solidFill>
                <a:latin typeface="Segoe UI"/>
              </a:rP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A63D2E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A few chapters' source TOCs have no dotted leaders (e.g. II-2) — they fall back to a flat one-per-line list.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A63D2E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Occasional TOC continuation-line artifact: a wrapped sub-item can appear as its own bullet.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A63D2E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QA review found a remaining list of typo, format, and equation items for expert sign-off (tracked separately).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349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D46"/>
                </a:solidFill>
                <a:latin typeface="Segoe U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9748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D46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Clickable TOC / List-of-Figures / List-of-Tables anchors into chapters.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D46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Special-case the title-first TOC layout for deeper nesting.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D46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Work the QA findings and modernization plan into the published text.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D46"/>
                </a:solidFill>
                <a:latin typeface="Segoe UI"/>
              </a:rPr>
              <a:t>▪  </a:t>
            </a:r>
            <a:r>
              <a:rPr sz="1400" b="0">
                <a:solidFill>
                  <a:srgbClr val="23282D"/>
                </a:solidFill>
                <a:latin typeface="Segoe UI"/>
              </a:rPr>
              <a:t>Regenerate per-chapter equation galleries to match remediated LaTeX.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CHESS Technical Guidance  ·  AI-Assisted Conversion of EM 1110-2-1100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From static PDF to living web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68880"/>
            <a:ext cx="2377440" cy="45720"/>
          </a:xfrm>
          <a:prstGeom prst="rect">
            <a:avLst/>
          </a:prstGeom>
          <a:solidFill>
            <a:srgbClr val="2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E6ECF0"/>
                </a:solidFill>
                <a:latin typeface="Segoe UI"/>
              </a:rPr>
              <a:t>The entire Coastal Engineering Manual now reads as real, searchable web content, with equations as live LaTeX, not pictures.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E6ECF0"/>
                </a:solidFill>
                <a:latin typeface="Segoe UI"/>
              </a:rPr>
              <a:t>Every published equation was checked against the source PDF, and whatever could not be verified is flagged with evidence, not hidden.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C8821E"/>
                </a:solidFill>
                <a:latin typeface="Segoe UI"/>
              </a:rPr>
              <a:t>▪  </a:t>
            </a:r>
            <a:r>
              <a:rPr sz="1700" b="0">
                <a:solidFill>
                  <a:srgbClr val="E6ECF0"/>
                </a:solidFill>
                <a:latin typeface="Segoe UI"/>
              </a:rPr>
              <a:t>The pipeline can be stopped, restarted, and re-run, so the manual can be rebuilt and improved as cleanup and updates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821E"/>
                </a:solidFill>
                <a:latin typeface="Segoe UI"/>
              </a:rPr>
              <a:t>coastal-hazards-system.github.io/CHESS-Technical-Guidance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