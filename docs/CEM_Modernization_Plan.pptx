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457200"/>
          </a:xfrm>
          <a:prstGeom prst="rect">
            <a:avLst/>
          </a:prstGeom>
          <a:noFill/>
        </p:spPr>
        <p:txBody>
          <a:bodyPr wrap="square" anchor="t" lIns="0" rIns="0" tIns="0" bIns="0">
            <a:spAutoFit/>
          </a:bodyPr>
          <a:lstStyle/>
          <a:p>
            <a:pPr algn="l">
              <a:lnSpc>
                <a:spcPct val="105000"/>
              </a:lnSpc>
              <a:spcBef>
                <a:spcPts val="0"/>
              </a:spcBef>
              <a:spcAft>
                <a:spcPts val="600"/>
              </a:spcAft>
            </a:pPr>
            <a:r>
              <a:rPr sz="1600" b="1">
                <a:solidFill>
                  <a:srgbClr val="C8821E"/>
                </a:solidFill>
                <a:latin typeface="Segoe UI"/>
              </a:rPr>
              <a:t>CHESS TECHNICAL GUIDANCE</a:t>
            </a:r>
          </a:p>
        </p:txBody>
      </p:sp>
      <p:sp>
        <p:nvSpPr>
          <p:cNvPr id="6" name="TextBox 5"/>
          <p:cNvSpPr txBox="1"/>
          <p:nvPr/>
        </p:nvSpPr>
        <p:spPr>
          <a:xfrm>
            <a:off x="822960" y="2057400"/>
            <a:ext cx="10515600" cy="1463040"/>
          </a:xfrm>
          <a:prstGeom prst="rect">
            <a:avLst/>
          </a:prstGeom>
          <a:noFill/>
        </p:spPr>
        <p:txBody>
          <a:bodyPr wrap="square" anchor="t" lIns="0" rIns="0" tIns="0" bIns="0">
            <a:spAutoFit/>
          </a:bodyPr>
          <a:lstStyle/>
          <a:p>
            <a:pPr algn="l">
              <a:lnSpc>
                <a:spcPct val="102000"/>
              </a:lnSpc>
              <a:spcBef>
                <a:spcPts val="0"/>
              </a:spcBef>
              <a:spcAft>
                <a:spcPts val="200"/>
              </a:spcAft>
            </a:pPr>
            <a:r>
              <a:rPr sz="4000" b="1">
                <a:solidFill>
                  <a:srgbClr val="FFFFFF"/>
                </a:solidFill>
                <a:latin typeface="Segoe UI"/>
              </a:rPr>
              <a:t>Coastal Engineering Manual</a:t>
            </a:r>
          </a:p>
          <a:p>
            <a:pPr algn="l">
              <a:lnSpc>
                <a:spcPct val="102000"/>
              </a:lnSpc>
              <a:spcBef>
                <a:spcPts val="0"/>
              </a:spcBef>
              <a:spcAft>
                <a:spcPts val="200"/>
              </a:spcAft>
            </a:pPr>
            <a:r>
              <a:rPr sz="4000" b="1">
                <a:solidFill>
                  <a:srgbClr val="FFFFFF"/>
                </a:solidFill>
                <a:latin typeface="Segoe UI"/>
              </a:rPr>
              <a:t>Modernization Plan</a:t>
            </a:r>
          </a:p>
        </p:txBody>
      </p:sp>
      <p:sp>
        <p:nvSpPr>
          <p:cNvPr id="7" name="Rectangle 6"/>
          <p:cNvSpPr/>
          <p:nvPr/>
        </p:nvSpPr>
        <p:spPr>
          <a:xfrm>
            <a:off x="868680" y="3977639"/>
            <a:ext cx="2377440" cy="45720"/>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206240"/>
            <a:ext cx="10607040" cy="1097280"/>
          </a:xfrm>
          <a:prstGeom prst="rect">
            <a:avLst/>
          </a:prstGeom>
          <a:noFill/>
        </p:spPr>
        <p:txBody>
          <a:bodyPr wrap="square" anchor="t" lIns="0" rIns="0" tIns="0" bIns="0">
            <a:spAutoFit/>
          </a:bodyPr>
          <a:lstStyle/>
          <a:p>
            <a:pPr algn="l">
              <a:lnSpc>
                <a:spcPct val="112000"/>
              </a:lnSpc>
              <a:spcBef>
                <a:spcPts val="0"/>
              </a:spcBef>
              <a:spcAft>
                <a:spcPts val="200"/>
              </a:spcAft>
            </a:pPr>
            <a:r>
              <a:rPr sz="1700" b="0">
                <a:solidFill>
                  <a:srgbClr val="CFDCE3"/>
                </a:solidFill>
                <a:latin typeface="Segoe UI"/>
              </a:rPr>
              <a:t>Where EM 1110-2-1100 (drafted 1998-2008, last updated Change 3, 2011) has fallen behind</a:t>
            </a:r>
          </a:p>
          <a:p>
            <a:pPr algn="l">
              <a:lnSpc>
                <a:spcPct val="112000"/>
              </a:lnSpc>
              <a:spcBef>
                <a:spcPts val="0"/>
              </a:spcBef>
              <a:spcAft>
                <a:spcPts val="200"/>
              </a:spcAft>
            </a:pPr>
            <a:r>
              <a:rPr sz="1700" b="0">
                <a:solidFill>
                  <a:srgbClr val="CFDCE3"/>
                </a:solidFill>
                <a:latin typeface="Segoe UI"/>
              </a:rPr>
              <a:t>current practice, datasets, models, and standards, with a crosswalk of CEM content to</a:t>
            </a:r>
          </a:p>
          <a:p>
            <a:pPr algn="l">
              <a:lnSpc>
                <a:spcPct val="112000"/>
              </a:lnSpc>
              <a:spcBef>
                <a:spcPts val="0"/>
              </a:spcBef>
              <a:spcAft>
                <a:spcPts val="200"/>
              </a:spcAft>
            </a:pPr>
            <a:r>
              <a:rPr sz="1700" b="0">
                <a:solidFill>
                  <a:srgbClr val="CFDCE3"/>
                </a:solidFill>
                <a:latin typeface="Segoe UI"/>
              </a:rPr>
              <a:t>twelve cross-cutting coastal-engineering topic areas.</a:t>
            </a:r>
          </a:p>
        </p:txBody>
      </p:sp>
      <p:sp>
        <p:nvSpPr>
          <p:cNvPr id="9" name="TextBox 8"/>
          <p:cNvSpPr txBox="1"/>
          <p:nvPr/>
        </p:nvSpPr>
        <p:spPr>
          <a:xfrm>
            <a:off x="822960" y="5943600"/>
            <a:ext cx="105156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0">
                <a:solidFill>
                  <a:srgbClr val="C8821E"/>
                </a:solidFill>
                <a:latin typeface="Segoe UI"/>
              </a:rPr>
              <a:t>78 modernization items across the six Parts  ·  high-priority items independently verified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VERIFICATION &amp; METHOD</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Independently fact-checked against current sources</a:t>
            </a:r>
          </a:p>
        </p:txBody>
      </p:sp>
      <p:sp>
        <p:nvSpPr>
          <p:cNvPr id="6" name="TextBox 5"/>
          <p:cNvSpPr txBox="1"/>
          <p:nvPr/>
        </p:nvSpPr>
        <p:spPr>
          <a:xfrm>
            <a:off x="640080" y="1783080"/>
            <a:ext cx="10881360" cy="1463040"/>
          </a:xfrm>
          <a:prstGeom prst="rect">
            <a:avLst/>
          </a:prstGeom>
          <a:noFill/>
        </p:spPr>
        <p:txBody>
          <a:bodyPr wrap="square" anchor="t" lIns="0" rIns="0" tIns="0" bIns="0">
            <a:spAutoFit/>
          </a:bodyPr>
          <a:lstStyle/>
          <a:p>
            <a:pPr algn="l">
              <a:lnSpc>
                <a:spcPct val="106000"/>
              </a:lnSpc>
              <a:spcBef>
                <a:spcPts val="0"/>
              </a:spcBef>
              <a:spcAft>
                <a:spcPts val="900"/>
              </a:spcAft>
            </a:pPr>
            <a:r>
              <a:rPr sz="1500" b="1">
                <a:solidFill>
                  <a:srgbClr val="C8821E"/>
                </a:solidFill>
                <a:latin typeface="Segoe UI"/>
              </a:rPr>
              <a:t>▪  </a:t>
            </a:r>
            <a:r>
              <a:rPr sz="1500" b="0">
                <a:solidFill>
                  <a:srgbClr val="23282D"/>
                </a:solidFill>
                <a:latin typeface="Segoe UI"/>
              </a:rPr>
              <a:t>Each Part was assessed for content that has fallen behind current 2020s practice, standards, datasets, models, and guidance (the CEM was last materially updated by Change 3, 2011).</a:t>
            </a:r>
          </a:p>
          <a:p>
            <a:pPr algn="l">
              <a:lnSpc>
                <a:spcPct val="106000"/>
              </a:lnSpc>
              <a:spcBef>
                <a:spcPts val="0"/>
              </a:spcBef>
              <a:spcAft>
                <a:spcPts val="900"/>
              </a:spcAft>
            </a:pPr>
            <a:r>
              <a:rPr sz="1500" b="1">
                <a:solidFill>
                  <a:srgbClr val="C8821E"/>
                </a:solidFill>
                <a:latin typeface="Segoe UI"/>
              </a:rPr>
              <a:t>▪  </a:t>
            </a:r>
            <a:r>
              <a:rPr sz="1500" b="0">
                <a:solidFill>
                  <a:srgbClr val="23282D"/>
                </a:solidFill>
                <a:latin typeface="Segoe UI"/>
              </a:rPr>
              <a:t>Each high-priority item was then independently fact-checked (2026-06-25) against authoritative sources: USACE Publications and ERDC-CHL (Coastal Hazards System, Engineering With Nature), NOAA, USGS, FEMA, CIRIA, the EurOtop manual, and peer-reviewed literature.</a:t>
            </a:r>
          </a:p>
        </p:txBody>
      </p:sp>
      <p:sp>
        <p:nvSpPr>
          <p:cNvPr id="7" name="Rounded Rectangle 6"/>
          <p:cNvSpPr/>
          <p:nvPr/>
        </p:nvSpPr>
        <p:spPr>
          <a:xfrm>
            <a:off x="640080" y="3401568"/>
            <a:ext cx="10908792" cy="1371600"/>
          </a:xfrm>
          <a:prstGeom prst="roundRect">
            <a:avLst/>
          </a:prstGeom>
          <a:solidFill>
            <a:srgbClr val="ECF5EF"/>
          </a:solidFill>
          <a:ln w="15875">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66160"/>
            <a:ext cx="1033272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2E7D46"/>
                </a:solidFill>
                <a:latin typeface="Segoe UI"/>
              </a:rPr>
              <a:t>Verification result</a:t>
            </a:r>
          </a:p>
        </p:txBody>
      </p:sp>
      <p:sp>
        <p:nvSpPr>
          <p:cNvPr id="9" name="TextBox 8"/>
          <p:cNvSpPr txBox="1"/>
          <p:nvPr/>
        </p:nvSpPr>
        <p:spPr>
          <a:xfrm>
            <a:off x="914400" y="3950208"/>
            <a:ext cx="10424160" cy="777240"/>
          </a:xfrm>
          <a:prstGeom prst="rect">
            <a:avLst/>
          </a:prstGeom>
          <a:noFill/>
        </p:spPr>
        <p:txBody>
          <a:bodyPr wrap="square" anchor="t" lIns="0" rIns="0" tIns="0" bIns="0">
            <a:spAutoFit/>
          </a:bodyPr>
          <a:lstStyle/>
          <a:p>
            <a:pPr algn="l">
              <a:lnSpc>
                <a:spcPct val="112000"/>
              </a:lnSpc>
              <a:spcBef>
                <a:spcPts val="0"/>
              </a:spcBef>
              <a:spcAft>
                <a:spcPts val="600"/>
              </a:spcAft>
            </a:pPr>
            <a:r>
              <a:rPr sz="1400" b="0">
                <a:solidFill>
                  <a:srgbClr val="23282D"/>
                </a:solidFill>
                <a:latin typeface="Segoe UI"/>
              </a:rPr>
              <a:t>Every high-priority item was confirmed: the cited CEM content is genuinely dated, and the named modern replacement is the current standard, successor tool, or governing USACE policy. Corrections from the pass were folded in (EP 1100-2-1 in place of the superseded ETL 1100-2-1; ASCE 7-22 Chapter 5 for coastal flood loads).</a:t>
            </a:r>
          </a:p>
        </p:txBody>
      </p:sp>
      <p:sp>
        <p:nvSpPr>
          <p:cNvPr id="10" name="TextBox 9"/>
          <p:cNvSpPr txBox="1"/>
          <p:nvPr/>
        </p:nvSpPr>
        <p:spPr>
          <a:xfrm>
            <a:off x="640080" y="5120640"/>
            <a:ext cx="10881360" cy="822960"/>
          </a:xfrm>
          <a:prstGeom prst="rect">
            <a:avLst/>
          </a:prstGeom>
          <a:noFill/>
        </p:spPr>
        <p:txBody>
          <a:bodyPr wrap="square" anchor="t" lIns="0" rIns="0" tIns="0" bIns="0">
            <a:spAutoFit/>
          </a:bodyPr>
          <a:lstStyle/>
          <a:p>
            <a:pPr algn="l">
              <a:lnSpc>
                <a:spcPct val="112000"/>
              </a:lnSpc>
              <a:spcBef>
                <a:spcPts val="0"/>
              </a:spcBef>
              <a:spcAft>
                <a:spcPts val="600"/>
              </a:spcAft>
            </a:pPr>
            <a:r>
              <a:rPr sz="1500" b="1">
                <a:solidFill>
                  <a:srgbClr val="1D3A4F"/>
                </a:solidFill>
                <a:latin typeface="Segoe UI"/>
              </a:rPr>
              <a:t>How to use:  </a:t>
            </a:r>
            <a:r>
              <a:rPr sz="1500" b="0">
                <a:solidFill>
                  <a:srgbClr val="23282D"/>
                </a:solidFill>
                <a:latin typeface="Segoe UI"/>
              </a:rPr>
              <a:t>the CEM remains a strong foundational reference; these items mark where to apply current USACE ERDC-CHL guidance, the Coastal Hazards System, and post-2011 circulars in design.</a:t>
            </a:r>
          </a:p>
        </p:txBody>
      </p:sp>
      <p:sp>
        <p:nvSpPr>
          <p:cNvPr id="11" name="TextBox 10"/>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12" name="TextBox 11"/>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PRIORITY SUMMARY</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78 modernization items</a:t>
            </a:r>
          </a:p>
        </p:txBody>
      </p:sp>
      <p:sp>
        <p:nvSpPr>
          <p:cNvPr id="6" name="TextBox 5"/>
          <p:cNvSpPr txBox="1"/>
          <p:nvPr/>
        </p:nvSpPr>
        <p:spPr>
          <a:xfrm>
            <a:off x="658368" y="1389888"/>
            <a:ext cx="10972800" cy="45720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2A7D8C"/>
                </a:solidFill>
                <a:latin typeface="Segoe UI"/>
              </a:rPr>
              <a:t>High-priority items independently fact-checked against authoritative sources (2026-06-25).</a:t>
            </a:r>
          </a:p>
        </p:txBody>
      </p:sp>
      <p:sp>
        <p:nvSpPr>
          <p:cNvPr id="7" name="Rounded Rectangle 6"/>
          <p:cNvSpPr/>
          <p:nvPr/>
        </p:nvSpPr>
        <p:spPr>
          <a:xfrm>
            <a:off x="640080" y="1874519"/>
            <a:ext cx="2606040" cy="1371600"/>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74519"/>
            <a:ext cx="91440" cy="1371600"/>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011680"/>
            <a:ext cx="2286000" cy="640080"/>
          </a:xfrm>
          <a:prstGeom prst="rect">
            <a:avLst/>
          </a:prstGeom>
          <a:noFill/>
        </p:spPr>
        <p:txBody>
          <a:bodyPr wrap="square" anchor="t" lIns="0" rIns="0" tIns="0" bIns="0">
            <a:spAutoFit/>
          </a:bodyPr>
          <a:lstStyle/>
          <a:p>
            <a:pPr algn="l">
              <a:lnSpc>
                <a:spcPct val="105000"/>
              </a:lnSpc>
              <a:spcBef>
                <a:spcPts val="0"/>
              </a:spcBef>
              <a:spcAft>
                <a:spcPts val="600"/>
              </a:spcAft>
            </a:pPr>
            <a:r>
              <a:rPr sz="3400" b="1">
                <a:solidFill>
                  <a:srgbClr val="1D3A4F"/>
                </a:solidFill>
                <a:latin typeface="Segoe UI"/>
              </a:rPr>
              <a:t>78</a:t>
            </a:r>
          </a:p>
        </p:txBody>
      </p:sp>
      <p:sp>
        <p:nvSpPr>
          <p:cNvPr id="10" name="TextBox 9"/>
          <p:cNvSpPr txBox="1"/>
          <p:nvPr/>
        </p:nvSpPr>
        <p:spPr>
          <a:xfrm>
            <a:off x="859536" y="2697480"/>
            <a:ext cx="2240280" cy="457200"/>
          </a:xfrm>
          <a:prstGeom prst="rect">
            <a:avLst/>
          </a:prstGeom>
          <a:noFill/>
        </p:spPr>
        <p:txBody>
          <a:bodyPr wrap="square" anchor="t" lIns="0" rIns="0" tIns="0" bIns="0">
            <a:spAutoFit/>
          </a:bodyPr>
          <a:lstStyle/>
          <a:p>
            <a:pPr algn="l">
              <a:lnSpc>
                <a:spcPct val="100000"/>
              </a:lnSpc>
              <a:spcBef>
                <a:spcPts val="0"/>
              </a:spcBef>
              <a:spcAft>
                <a:spcPts val="600"/>
              </a:spcAft>
            </a:pPr>
            <a:r>
              <a:rPr sz="1250" b="0">
                <a:solidFill>
                  <a:srgbClr val="23282D"/>
                </a:solidFill>
                <a:latin typeface="Segoe UI"/>
              </a:rPr>
              <a:t>items across six Parts</a:t>
            </a:r>
          </a:p>
        </p:txBody>
      </p:sp>
      <p:sp>
        <p:nvSpPr>
          <p:cNvPr id="11" name="Rounded Rectangle 10"/>
          <p:cNvSpPr/>
          <p:nvPr/>
        </p:nvSpPr>
        <p:spPr>
          <a:xfrm>
            <a:off x="3429000" y="1874519"/>
            <a:ext cx="2606040" cy="1371600"/>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874519"/>
            <a:ext cx="91440" cy="1371600"/>
          </a:xfrm>
          <a:prstGeom prst="rect">
            <a:avLst/>
          </a:prstGeom>
          <a:solidFill>
            <a:srgbClr val="A6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2011680"/>
            <a:ext cx="2286000" cy="640080"/>
          </a:xfrm>
          <a:prstGeom prst="rect">
            <a:avLst/>
          </a:prstGeom>
          <a:noFill/>
        </p:spPr>
        <p:txBody>
          <a:bodyPr wrap="square" anchor="t" lIns="0" rIns="0" tIns="0" bIns="0">
            <a:spAutoFit/>
          </a:bodyPr>
          <a:lstStyle/>
          <a:p>
            <a:pPr algn="l">
              <a:lnSpc>
                <a:spcPct val="105000"/>
              </a:lnSpc>
              <a:spcBef>
                <a:spcPts val="0"/>
              </a:spcBef>
              <a:spcAft>
                <a:spcPts val="600"/>
              </a:spcAft>
            </a:pPr>
            <a:r>
              <a:rPr sz="3400" b="1">
                <a:solidFill>
                  <a:srgbClr val="A63D2E"/>
                </a:solidFill>
                <a:latin typeface="Segoe UI"/>
              </a:rPr>
              <a:t>32</a:t>
            </a:r>
          </a:p>
        </p:txBody>
      </p:sp>
      <p:sp>
        <p:nvSpPr>
          <p:cNvPr id="14" name="TextBox 13"/>
          <p:cNvSpPr txBox="1"/>
          <p:nvPr/>
        </p:nvSpPr>
        <p:spPr>
          <a:xfrm>
            <a:off x="3648456" y="2697480"/>
            <a:ext cx="2240280" cy="457200"/>
          </a:xfrm>
          <a:prstGeom prst="rect">
            <a:avLst/>
          </a:prstGeom>
          <a:noFill/>
        </p:spPr>
        <p:txBody>
          <a:bodyPr wrap="square" anchor="t" lIns="0" rIns="0" tIns="0" bIns="0">
            <a:spAutoFit/>
          </a:bodyPr>
          <a:lstStyle/>
          <a:p>
            <a:pPr algn="l">
              <a:lnSpc>
                <a:spcPct val="100000"/>
              </a:lnSpc>
              <a:spcBef>
                <a:spcPts val="0"/>
              </a:spcBef>
              <a:spcAft>
                <a:spcPts val="600"/>
              </a:spcAft>
            </a:pPr>
            <a:r>
              <a:rPr sz="1250" b="0">
                <a:solidFill>
                  <a:srgbClr val="23282D"/>
                </a:solidFill>
                <a:latin typeface="Segoe UI"/>
              </a:rPr>
              <a:t>high priority</a:t>
            </a:r>
          </a:p>
        </p:txBody>
      </p:sp>
      <p:sp>
        <p:nvSpPr>
          <p:cNvPr id="15" name="Rounded Rectangle 14"/>
          <p:cNvSpPr/>
          <p:nvPr/>
        </p:nvSpPr>
        <p:spPr>
          <a:xfrm>
            <a:off x="6217920" y="1874519"/>
            <a:ext cx="2606040" cy="1371600"/>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874519"/>
            <a:ext cx="91440" cy="13716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011680"/>
            <a:ext cx="2286000" cy="640080"/>
          </a:xfrm>
          <a:prstGeom prst="rect">
            <a:avLst/>
          </a:prstGeom>
          <a:noFill/>
        </p:spPr>
        <p:txBody>
          <a:bodyPr wrap="square" anchor="t" lIns="0" rIns="0" tIns="0" bIns="0">
            <a:spAutoFit/>
          </a:bodyPr>
          <a:lstStyle/>
          <a:p>
            <a:pPr algn="l">
              <a:lnSpc>
                <a:spcPct val="105000"/>
              </a:lnSpc>
              <a:spcBef>
                <a:spcPts val="0"/>
              </a:spcBef>
              <a:spcAft>
                <a:spcPts val="600"/>
              </a:spcAft>
            </a:pPr>
            <a:r>
              <a:rPr sz="3400" b="1">
                <a:solidFill>
                  <a:srgbClr val="C8821E"/>
                </a:solidFill>
                <a:latin typeface="Segoe UI"/>
              </a:rPr>
              <a:t>32</a:t>
            </a:r>
          </a:p>
        </p:txBody>
      </p:sp>
      <p:sp>
        <p:nvSpPr>
          <p:cNvPr id="18" name="TextBox 17"/>
          <p:cNvSpPr txBox="1"/>
          <p:nvPr/>
        </p:nvSpPr>
        <p:spPr>
          <a:xfrm>
            <a:off x="6437376" y="2697480"/>
            <a:ext cx="2240280" cy="457200"/>
          </a:xfrm>
          <a:prstGeom prst="rect">
            <a:avLst/>
          </a:prstGeom>
          <a:noFill/>
        </p:spPr>
        <p:txBody>
          <a:bodyPr wrap="square" anchor="t" lIns="0" rIns="0" tIns="0" bIns="0">
            <a:spAutoFit/>
          </a:bodyPr>
          <a:lstStyle/>
          <a:p>
            <a:pPr algn="l">
              <a:lnSpc>
                <a:spcPct val="100000"/>
              </a:lnSpc>
              <a:spcBef>
                <a:spcPts val="0"/>
              </a:spcBef>
              <a:spcAft>
                <a:spcPts val="600"/>
              </a:spcAft>
            </a:pPr>
            <a:r>
              <a:rPr sz="1250" b="0">
                <a:solidFill>
                  <a:srgbClr val="23282D"/>
                </a:solidFill>
                <a:latin typeface="Segoe UI"/>
              </a:rPr>
              <a:t>medium priority</a:t>
            </a:r>
          </a:p>
        </p:txBody>
      </p:sp>
      <p:sp>
        <p:nvSpPr>
          <p:cNvPr id="19" name="Rounded Rectangle 18"/>
          <p:cNvSpPr/>
          <p:nvPr/>
        </p:nvSpPr>
        <p:spPr>
          <a:xfrm>
            <a:off x="9006840" y="1874519"/>
            <a:ext cx="2606040" cy="1371600"/>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874519"/>
            <a:ext cx="91440" cy="137160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8008" y="2011680"/>
            <a:ext cx="2286000" cy="640080"/>
          </a:xfrm>
          <a:prstGeom prst="rect">
            <a:avLst/>
          </a:prstGeom>
          <a:noFill/>
        </p:spPr>
        <p:txBody>
          <a:bodyPr wrap="square" anchor="t" lIns="0" rIns="0" tIns="0" bIns="0">
            <a:spAutoFit/>
          </a:bodyPr>
          <a:lstStyle/>
          <a:p>
            <a:pPr algn="l">
              <a:lnSpc>
                <a:spcPct val="105000"/>
              </a:lnSpc>
              <a:spcBef>
                <a:spcPts val="0"/>
              </a:spcBef>
              <a:spcAft>
                <a:spcPts val="600"/>
              </a:spcAft>
            </a:pPr>
            <a:r>
              <a:rPr sz="3400" b="1">
                <a:solidFill>
                  <a:srgbClr val="2E7D46"/>
                </a:solidFill>
                <a:latin typeface="Segoe UI"/>
              </a:rPr>
              <a:t>14</a:t>
            </a:r>
          </a:p>
        </p:txBody>
      </p:sp>
      <p:sp>
        <p:nvSpPr>
          <p:cNvPr id="22" name="TextBox 21"/>
          <p:cNvSpPr txBox="1"/>
          <p:nvPr/>
        </p:nvSpPr>
        <p:spPr>
          <a:xfrm>
            <a:off x="9226296" y="2697480"/>
            <a:ext cx="2240280" cy="457200"/>
          </a:xfrm>
          <a:prstGeom prst="rect">
            <a:avLst/>
          </a:prstGeom>
          <a:noFill/>
        </p:spPr>
        <p:txBody>
          <a:bodyPr wrap="square" anchor="t" lIns="0" rIns="0" tIns="0" bIns="0">
            <a:spAutoFit/>
          </a:bodyPr>
          <a:lstStyle/>
          <a:p>
            <a:pPr algn="l">
              <a:lnSpc>
                <a:spcPct val="100000"/>
              </a:lnSpc>
              <a:spcBef>
                <a:spcPts val="0"/>
              </a:spcBef>
              <a:spcAft>
                <a:spcPts val="600"/>
              </a:spcAft>
            </a:pPr>
            <a:r>
              <a:rPr sz="1250" b="0">
                <a:solidFill>
                  <a:srgbClr val="23282D"/>
                </a:solidFill>
                <a:latin typeface="Segoe UI"/>
              </a:rPr>
              <a:t>low priority</a:t>
            </a:r>
          </a:p>
        </p:txBody>
      </p:sp>
      <p:sp>
        <p:nvSpPr>
          <p:cNvPr id="23" name="TextBox 22"/>
          <p:cNvSpPr txBox="1"/>
          <p:nvPr/>
        </p:nvSpPr>
        <p:spPr>
          <a:xfrm>
            <a:off x="640080" y="361188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D3A4F"/>
                </a:solidFill>
                <a:latin typeface="Segoe UI"/>
              </a:rPr>
              <a:t>By Part (high / medium / low):</a:t>
            </a:r>
          </a:p>
        </p:txBody>
      </p:sp>
      <p:sp>
        <p:nvSpPr>
          <p:cNvPr id="24" name="TextBox 23"/>
          <p:cNvSpPr txBox="1"/>
          <p:nvPr/>
        </p:nvSpPr>
        <p:spPr>
          <a:xfrm>
            <a:off x="822960" y="4023360"/>
            <a:ext cx="6583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23282D"/>
                </a:solidFill>
                <a:latin typeface="Segoe UI"/>
              </a:rPr>
              <a:t>Part I — Introduction</a:t>
            </a:r>
          </a:p>
        </p:txBody>
      </p:sp>
      <p:sp>
        <p:nvSpPr>
          <p:cNvPr id="25" name="TextBox 24"/>
          <p:cNvSpPr txBox="1"/>
          <p:nvPr/>
        </p:nvSpPr>
        <p:spPr>
          <a:xfrm>
            <a:off x="7498079" y="4023360"/>
            <a:ext cx="2011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6B7280"/>
                </a:solidFill>
                <a:latin typeface="Segoe UI"/>
              </a:rPr>
              <a:t>5 / 4 / 2</a:t>
            </a:r>
          </a:p>
        </p:txBody>
      </p:sp>
      <p:sp>
        <p:nvSpPr>
          <p:cNvPr id="26" name="TextBox 25"/>
          <p:cNvSpPr txBox="1"/>
          <p:nvPr/>
        </p:nvSpPr>
        <p:spPr>
          <a:xfrm>
            <a:off x="9692640" y="4023360"/>
            <a:ext cx="137160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1">
                <a:solidFill>
                  <a:srgbClr val="2A7D8C"/>
                </a:solidFill>
                <a:latin typeface="Segoe UI"/>
              </a:rPr>
              <a:t>total 11</a:t>
            </a:r>
          </a:p>
        </p:txBody>
      </p:sp>
      <p:sp>
        <p:nvSpPr>
          <p:cNvPr id="27" name="TextBox 26"/>
          <p:cNvSpPr txBox="1"/>
          <p:nvPr/>
        </p:nvSpPr>
        <p:spPr>
          <a:xfrm>
            <a:off x="822960" y="4370832"/>
            <a:ext cx="6583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23282D"/>
                </a:solidFill>
                <a:latin typeface="Segoe UI"/>
              </a:rPr>
              <a:t>Part II — Coastal Hydrodynamics</a:t>
            </a:r>
          </a:p>
        </p:txBody>
      </p:sp>
      <p:sp>
        <p:nvSpPr>
          <p:cNvPr id="28" name="TextBox 27"/>
          <p:cNvSpPr txBox="1"/>
          <p:nvPr/>
        </p:nvSpPr>
        <p:spPr>
          <a:xfrm>
            <a:off x="7498079" y="4370832"/>
            <a:ext cx="2011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6B7280"/>
                </a:solidFill>
                <a:latin typeface="Segoe UI"/>
              </a:rPr>
              <a:t>6 / 7 / 2</a:t>
            </a:r>
          </a:p>
        </p:txBody>
      </p:sp>
      <p:sp>
        <p:nvSpPr>
          <p:cNvPr id="29" name="TextBox 28"/>
          <p:cNvSpPr txBox="1"/>
          <p:nvPr/>
        </p:nvSpPr>
        <p:spPr>
          <a:xfrm>
            <a:off x="9692640" y="4370832"/>
            <a:ext cx="137160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1">
                <a:solidFill>
                  <a:srgbClr val="2A7D8C"/>
                </a:solidFill>
                <a:latin typeface="Segoe UI"/>
              </a:rPr>
              <a:t>total 15</a:t>
            </a:r>
          </a:p>
        </p:txBody>
      </p:sp>
      <p:sp>
        <p:nvSpPr>
          <p:cNvPr id="30" name="TextBox 29"/>
          <p:cNvSpPr txBox="1"/>
          <p:nvPr/>
        </p:nvSpPr>
        <p:spPr>
          <a:xfrm>
            <a:off x="822960" y="4718304"/>
            <a:ext cx="6583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23282D"/>
                </a:solidFill>
                <a:latin typeface="Segoe UI"/>
              </a:rPr>
              <a:t>Part III — Coastal Sediment Processes</a:t>
            </a:r>
          </a:p>
        </p:txBody>
      </p:sp>
      <p:sp>
        <p:nvSpPr>
          <p:cNvPr id="31" name="TextBox 30"/>
          <p:cNvSpPr txBox="1"/>
          <p:nvPr/>
        </p:nvSpPr>
        <p:spPr>
          <a:xfrm>
            <a:off x="7498079" y="4718304"/>
            <a:ext cx="2011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6B7280"/>
                </a:solidFill>
                <a:latin typeface="Segoe UI"/>
              </a:rPr>
              <a:t>5 / 5 / 3</a:t>
            </a:r>
          </a:p>
        </p:txBody>
      </p:sp>
      <p:sp>
        <p:nvSpPr>
          <p:cNvPr id="32" name="TextBox 31"/>
          <p:cNvSpPr txBox="1"/>
          <p:nvPr/>
        </p:nvSpPr>
        <p:spPr>
          <a:xfrm>
            <a:off x="9692640" y="4718304"/>
            <a:ext cx="137160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1">
                <a:solidFill>
                  <a:srgbClr val="2A7D8C"/>
                </a:solidFill>
                <a:latin typeface="Segoe UI"/>
              </a:rPr>
              <a:t>total 13</a:t>
            </a:r>
          </a:p>
        </p:txBody>
      </p:sp>
      <p:sp>
        <p:nvSpPr>
          <p:cNvPr id="33" name="TextBox 32"/>
          <p:cNvSpPr txBox="1"/>
          <p:nvPr/>
        </p:nvSpPr>
        <p:spPr>
          <a:xfrm>
            <a:off x="822960" y="5065776"/>
            <a:ext cx="6583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23282D"/>
                </a:solidFill>
                <a:latin typeface="Segoe UI"/>
              </a:rPr>
              <a:t>Part IV — Coastal Geology</a:t>
            </a:r>
          </a:p>
        </p:txBody>
      </p:sp>
      <p:sp>
        <p:nvSpPr>
          <p:cNvPr id="34" name="TextBox 33"/>
          <p:cNvSpPr txBox="1"/>
          <p:nvPr/>
        </p:nvSpPr>
        <p:spPr>
          <a:xfrm>
            <a:off x="7498079" y="5065776"/>
            <a:ext cx="2011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6B7280"/>
                </a:solidFill>
                <a:latin typeface="Segoe UI"/>
              </a:rPr>
              <a:t>4 / 3 / 4</a:t>
            </a:r>
          </a:p>
        </p:txBody>
      </p:sp>
      <p:sp>
        <p:nvSpPr>
          <p:cNvPr id="35" name="TextBox 34"/>
          <p:cNvSpPr txBox="1"/>
          <p:nvPr/>
        </p:nvSpPr>
        <p:spPr>
          <a:xfrm>
            <a:off x="9692640" y="5065776"/>
            <a:ext cx="137160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1">
                <a:solidFill>
                  <a:srgbClr val="2A7D8C"/>
                </a:solidFill>
                <a:latin typeface="Segoe UI"/>
              </a:rPr>
              <a:t>total 11</a:t>
            </a:r>
          </a:p>
        </p:txBody>
      </p:sp>
      <p:sp>
        <p:nvSpPr>
          <p:cNvPr id="36" name="TextBox 35"/>
          <p:cNvSpPr txBox="1"/>
          <p:nvPr/>
        </p:nvSpPr>
        <p:spPr>
          <a:xfrm>
            <a:off x="822960" y="5413248"/>
            <a:ext cx="6583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23282D"/>
                </a:solidFill>
                <a:latin typeface="Segoe UI"/>
              </a:rPr>
              <a:t>Part V — Coastal Project Planning and Design</a:t>
            </a:r>
          </a:p>
        </p:txBody>
      </p:sp>
      <p:sp>
        <p:nvSpPr>
          <p:cNvPr id="37" name="TextBox 36"/>
          <p:cNvSpPr txBox="1"/>
          <p:nvPr/>
        </p:nvSpPr>
        <p:spPr>
          <a:xfrm>
            <a:off x="7498079" y="5413248"/>
            <a:ext cx="2011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6B7280"/>
                </a:solidFill>
                <a:latin typeface="Segoe UI"/>
              </a:rPr>
              <a:t>6 / 5 / 1</a:t>
            </a:r>
          </a:p>
        </p:txBody>
      </p:sp>
      <p:sp>
        <p:nvSpPr>
          <p:cNvPr id="38" name="TextBox 37"/>
          <p:cNvSpPr txBox="1"/>
          <p:nvPr/>
        </p:nvSpPr>
        <p:spPr>
          <a:xfrm>
            <a:off x="9692640" y="5413248"/>
            <a:ext cx="137160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1">
                <a:solidFill>
                  <a:srgbClr val="2A7D8C"/>
                </a:solidFill>
                <a:latin typeface="Segoe UI"/>
              </a:rPr>
              <a:t>total 12</a:t>
            </a:r>
          </a:p>
        </p:txBody>
      </p:sp>
      <p:sp>
        <p:nvSpPr>
          <p:cNvPr id="39" name="TextBox 38"/>
          <p:cNvSpPr txBox="1"/>
          <p:nvPr/>
        </p:nvSpPr>
        <p:spPr>
          <a:xfrm>
            <a:off x="822960" y="5760720"/>
            <a:ext cx="6583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23282D"/>
                </a:solidFill>
                <a:latin typeface="Segoe UI"/>
              </a:rPr>
              <a:t>Part VI — Design of Coastal Project Elements</a:t>
            </a:r>
          </a:p>
        </p:txBody>
      </p:sp>
      <p:sp>
        <p:nvSpPr>
          <p:cNvPr id="40" name="TextBox 39"/>
          <p:cNvSpPr txBox="1"/>
          <p:nvPr/>
        </p:nvSpPr>
        <p:spPr>
          <a:xfrm>
            <a:off x="7498079" y="5760720"/>
            <a:ext cx="201168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0">
                <a:solidFill>
                  <a:srgbClr val="6B7280"/>
                </a:solidFill>
                <a:latin typeface="Segoe UI"/>
              </a:rPr>
              <a:t>6 / 8 / 2</a:t>
            </a:r>
          </a:p>
        </p:txBody>
      </p:sp>
      <p:sp>
        <p:nvSpPr>
          <p:cNvPr id="41" name="TextBox 40"/>
          <p:cNvSpPr txBox="1"/>
          <p:nvPr/>
        </p:nvSpPr>
        <p:spPr>
          <a:xfrm>
            <a:off x="9692640" y="5760720"/>
            <a:ext cx="1371600" cy="310896"/>
          </a:xfrm>
          <a:prstGeom prst="rect">
            <a:avLst/>
          </a:prstGeom>
          <a:noFill/>
        </p:spPr>
        <p:txBody>
          <a:bodyPr wrap="square" anchor="t" lIns="0" rIns="0" tIns="0" bIns="0">
            <a:spAutoFit/>
          </a:bodyPr>
          <a:lstStyle/>
          <a:p>
            <a:pPr algn="l">
              <a:lnSpc>
                <a:spcPct val="105000"/>
              </a:lnSpc>
              <a:spcBef>
                <a:spcPts val="0"/>
              </a:spcBef>
              <a:spcAft>
                <a:spcPts val="600"/>
              </a:spcAft>
            </a:pPr>
            <a:r>
              <a:rPr sz="1350" b="1">
                <a:solidFill>
                  <a:srgbClr val="2A7D8C"/>
                </a:solidFill>
                <a:latin typeface="Segoe UI"/>
              </a:rPr>
              <a:t>total 16</a:t>
            </a:r>
          </a:p>
        </p:txBody>
      </p:sp>
      <p:sp>
        <p:nvSpPr>
          <p:cNvPr id="42" name="TextBox 41"/>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43" name="TextBox 42"/>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WHAT DRIVES THE MODERNIZATION</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A few cross-cutting themes recur across all six Parts</a:t>
            </a:r>
          </a:p>
        </p:txBody>
      </p:sp>
      <p:sp>
        <p:nvSpPr>
          <p:cNvPr id="6" name="Rounded Rectangle 5"/>
          <p:cNvSpPr/>
          <p:nvPr/>
        </p:nvSpPr>
        <p:spPr>
          <a:xfrm>
            <a:off x="640080" y="1920240"/>
            <a:ext cx="5349240" cy="1207008"/>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920240"/>
            <a:ext cx="91440" cy="120700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048256"/>
            <a:ext cx="493776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C8821E"/>
                </a:solidFill>
                <a:latin typeface="Segoe UI"/>
              </a:rPr>
              <a:t>Sea-level rise &amp; climate adaptation</a:t>
            </a:r>
          </a:p>
        </p:txBody>
      </p:sp>
      <p:sp>
        <p:nvSpPr>
          <p:cNvPr id="9" name="TextBox 8"/>
          <p:cNvSpPr txBox="1"/>
          <p:nvPr/>
        </p:nvSpPr>
        <p:spPr>
          <a:xfrm>
            <a:off x="896112" y="2432304"/>
            <a:ext cx="4983480" cy="640080"/>
          </a:xfrm>
          <a:prstGeom prst="rect">
            <a:avLst/>
          </a:prstGeom>
          <a:noFill/>
        </p:spPr>
        <p:txBody>
          <a:bodyPr wrap="square" anchor="t" lIns="0" rIns="0" tIns="0" bIns="0">
            <a:spAutoFit/>
          </a:bodyPr>
          <a:lstStyle/>
          <a:p>
            <a:pPr algn="l">
              <a:lnSpc>
                <a:spcPct val="105000"/>
              </a:lnSpc>
              <a:spcBef>
                <a:spcPts val="0"/>
              </a:spcBef>
              <a:spcAft>
                <a:spcPts val="600"/>
              </a:spcAft>
            </a:pPr>
            <a:r>
              <a:rPr sz="1250" b="0">
                <a:solidFill>
                  <a:srgbClr val="23282D"/>
                </a:solidFill>
                <a:latin typeface="Segoe UI"/>
              </a:rPr>
              <a:t>From background awareness to a required, scenario-based design input under USACE policy.</a:t>
            </a:r>
          </a:p>
        </p:txBody>
      </p:sp>
      <p:sp>
        <p:nvSpPr>
          <p:cNvPr id="10" name="Rounded Rectangle 9"/>
          <p:cNvSpPr/>
          <p:nvPr/>
        </p:nvSpPr>
        <p:spPr>
          <a:xfrm>
            <a:off x="6217920" y="1920240"/>
            <a:ext cx="5349240" cy="1207008"/>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920240"/>
            <a:ext cx="91440" cy="1207008"/>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048256"/>
            <a:ext cx="493776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2A7D8C"/>
                </a:solidFill>
                <a:latin typeface="Segoe UI"/>
              </a:rPr>
              <a:t>Probabilistic coastal-hazard analysis</a:t>
            </a:r>
          </a:p>
        </p:txBody>
      </p:sp>
      <p:sp>
        <p:nvSpPr>
          <p:cNvPr id="13" name="TextBox 12"/>
          <p:cNvSpPr txBox="1"/>
          <p:nvPr/>
        </p:nvSpPr>
        <p:spPr>
          <a:xfrm>
            <a:off x="6473952" y="2432304"/>
            <a:ext cx="4983480" cy="640080"/>
          </a:xfrm>
          <a:prstGeom prst="rect">
            <a:avLst/>
          </a:prstGeom>
          <a:noFill/>
        </p:spPr>
        <p:txBody>
          <a:bodyPr wrap="square" anchor="t" lIns="0" rIns="0" tIns="0" bIns="0">
            <a:spAutoFit/>
          </a:bodyPr>
          <a:lstStyle/>
          <a:p>
            <a:pPr algn="l">
              <a:lnSpc>
                <a:spcPct val="105000"/>
              </a:lnSpc>
              <a:spcBef>
                <a:spcPts val="0"/>
              </a:spcBef>
              <a:spcAft>
                <a:spcPts val="600"/>
              </a:spcAft>
            </a:pPr>
            <a:r>
              <a:rPr sz="1250" b="0">
                <a:solidFill>
                  <a:srgbClr val="23282D"/>
                </a:solidFill>
                <a:latin typeface="Segoe UI"/>
              </a:rPr>
              <a:t>From the Empirical Simulation Technique to JPM-OS and the Coastal Hazards System.</a:t>
            </a:r>
          </a:p>
        </p:txBody>
      </p:sp>
      <p:sp>
        <p:nvSpPr>
          <p:cNvPr id="14" name="Rounded Rectangle 13"/>
          <p:cNvSpPr/>
          <p:nvPr/>
        </p:nvSpPr>
        <p:spPr>
          <a:xfrm>
            <a:off x="640080" y="3291840"/>
            <a:ext cx="5349240" cy="1207008"/>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291840"/>
            <a:ext cx="91440" cy="120700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419856"/>
            <a:ext cx="493776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1D3A4F"/>
                </a:solidFill>
                <a:latin typeface="Segoe UI"/>
              </a:rPr>
              <a:t>Process-based &amp; spectral models</a:t>
            </a:r>
          </a:p>
        </p:txBody>
      </p:sp>
      <p:sp>
        <p:nvSpPr>
          <p:cNvPr id="17" name="TextBox 16"/>
          <p:cNvSpPr txBox="1"/>
          <p:nvPr/>
        </p:nvSpPr>
        <p:spPr>
          <a:xfrm>
            <a:off x="896112" y="3803904"/>
            <a:ext cx="4983480" cy="640080"/>
          </a:xfrm>
          <a:prstGeom prst="rect">
            <a:avLst/>
          </a:prstGeom>
          <a:noFill/>
        </p:spPr>
        <p:txBody>
          <a:bodyPr wrap="square" anchor="t" lIns="0" rIns="0" tIns="0" bIns="0">
            <a:spAutoFit/>
          </a:bodyPr>
          <a:lstStyle/>
          <a:p>
            <a:pPr algn="l">
              <a:lnSpc>
                <a:spcPct val="105000"/>
              </a:lnSpc>
              <a:spcBef>
                <a:spcPts val="0"/>
              </a:spcBef>
              <a:spcAft>
                <a:spcPts val="600"/>
              </a:spcAft>
            </a:pPr>
            <a:r>
              <a:rPr sz="1250" b="0">
                <a:solidFill>
                  <a:srgbClr val="23282D"/>
                </a:solidFill>
                <a:latin typeface="Segoe UI"/>
              </a:rPr>
              <a:t>From 1D/legacy codes (GENESIS, SBEACH, WIS 1G/2G) to GenCade, XBeach, SWAN, ADCIRC.</a:t>
            </a:r>
          </a:p>
        </p:txBody>
      </p:sp>
      <p:sp>
        <p:nvSpPr>
          <p:cNvPr id="18" name="Rounded Rectangle 17"/>
          <p:cNvSpPr/>
          <p:nvPr/>
        </p:nvSpPr>
        <p:spPr>
          <a:xfrm>
            <a:off x="6217920" y="3291840"/>
            <a:ext cx="5349240" cy="1207008"/>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291840"/>
            <a:ext cx="91440" cy="120700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3419856"/>
            <a:ext cx="493776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2E7D46"/>
                </a:solidFill>
                <a:latin typeface="Segoe UI"/>
              </a:rPr>
              <a:t>International design standards</a:t>
            </a:r>
          </a:p>
        </p:txBody>
      </p:sp>
      <p:sp>
        <p:nvSpPr>
          <p:cNvPr id="21" name="TextBox 20"/>
          <p:cNvSpPr txBox="1"/>
          <p:nvPr/>
        </p:nvSpPr>
        <p:spPr>
          <a:xfrm>
            <a:off x="6473952" y="3803904"/>
            <a:ext cx="4983480" cy="640080"/>
          </a:xfrm>
          <a:prstGeom prst="rect">
            <a:avLst/>
          </a:prstGeom>
          <a:noFill/>
        </p:spPr>
        <p:txBody>
          <a:bodyPr wrap="square" anchor="t" lIns="0" rIns="0" tIns="0" bIns="0">
            <a:spAutoFit/>
          </a:bodyPr>
          <a:lstStyle/>
          <a:p>
            <a:pPr algn="l">
              <a:lnSpc>
                <a:spcPct val="105000"/>
              </a:lnSpc>
              <a:spcBef>
                <a:spcPts val="0"/>
              </a:spcBef>
              <a:spcAft>
                <a:spcPts val="600"/>
              </a:spcAft>
            </a:pPr>
            <a:r>
              <a:rPr sz="1250" b="0">
                <a:solidFill>
                  <a:srgbClr val="23282D"/>
                </a:solidFill>
                <a:latin typeface="Segoe UI"/>
              </a:rPr>
              <a:t>From the 1984 Shore Protection Manual to EurOtop (2018) and the Rock Manual.</a:t>
            </a:r>
          </a:p>
        </p:txBody>
      </p:sp>
      <p:sp>
        <p:nvSpPr>
          <p:cNvPr id="22" name="Rounded Rectangle 21"/>
          <p:cNvSpPr/>
          <p:nvPr/>
        </p:nvSpPr>
        <p:spPr>
          <a:xfrm>
            <a:off x="640080" y="4663440"/>
            <a:ext cx="5349240" cy="1207008"/>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663440"/>
            <a:ext cx="91440" cy="120700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791456"/>
            <a:ext cx="493776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C8821E"/>
                </a:solidFill>
                <a:latin typeface="Segoe UI"/>
              </a:rPr>
              <a:t>Natural &amp; nature-based features</a:t>
            </a:r>
          </a:p>
        </p:txBody>
      </p:sp>
      <p:sp>
        <p:nvSpPr>
          <p:cNvPr id="25" name="TextBox 24"/>
          <p:cNvSpPr txBox="1"/>
          <p:nvPr/>
        </p:nvSpPr>
        <p:spPr>
          <a:xfrm>
            <a:off x="896112" y="5175504"/>
            <a:ext cx="4983480" cy="640080"/>
          </a:xfrm>
          <a:prstGeom prst="rect">
            <a:avLst/>
          </a:prstGeom>
          <a:noFill/>
        </p:spPr>
        <p:txBody>
          <a:bodyPr wrap="square" anchor="t" lIns="0" rIns="0" tIns="0" bIns="0">
            <a:spAutoFit/>
          </a:bodyPr>
          <a:lstStyle/>
          <a:p>
            <a:pPr algn="l">
              <a:lnSpc>
                <a:spcPct val="105000"/>
              </a:lnSpc>
              <a:spcBef>
                <a:spcPts val="0"/>
              </a:spcBef>
              <a:spcAft>
                <a:spcPts val="600"/>
              </a:spcAft>
            </a:pPr>
            <a:r>
              <a:rPr sz="1250" b="0">
                <a:solidFill>
                  <a:srgbClr val="23282D"/>
                </a:solidFill>
                <a:latin typeface="Segoe UI"/>
              </a:rPr>
              <a:t>From a hard-vs-soft taxonomy to NNBF and Engineering With Nature as first-class options.</a:t>
            </a:r>
          </a:p>
        </p:txBody>
      </p:sp>
      <p:sp>
        <p:nvSpPr>
          <p:cNvPr id="26" name="Rounded Rectangle 25"/>
          <p:cNvSpPr/>
          <p:nvPr/>
        </p:nvSpPr>
        <p:spPr>
          <a:xfrm>
            <a:off x="6217920" y="4663440"/>
            <a:ext cx="5349240" cy="1207008"/>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4663440"/>
            <a:ext cx="91440" cy="1207008"/>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4791456"/>
            <a:ext cx="493776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2A7D8C"/>
                </a:solidFill>
                <a:latin typeface="Segoe UI"/>
              </a:rPr>
              <a:t>Current datasets &amp; datums</a:t>
            </a:r>
          </a:p>
        </p:txBody>
      </p:sp>
      <p:sp>
        <p:nvSpPr>
          <p:cNvPr id="29" name="TextBox 28"/>
          <p:cNvSpPr txBox="1"/>
          <p:nvPr/>
        </p:nvSpPr>
        <p:spPr>
          <a:xfrm>
            <a:off x="6473952" y="5175504"/>
            <a:ext cx="4983480" cy="640080"/>
          </a:xfrm>
          <a:prstGeom prst="rect">
            <a:avLst/>
          </a:prstGeom>
          <a:noFill/>
        </p:spPr>
        <p:txBody>
          <a:bodyPr wrap="square" anchor="t" lIns="0" rIns="0" tIns="0" bIns="0">
            <a:spAutoFit/>
          </a:bodyPr>
          <a:lstStyle/>
          <a:p>
            <a:pPr algn="l">
              <a:lnSpc>
                <a:spcPct val="105000"/>
              </a:lnSpc>
              <a:spcBef>
                <a:spcPts val="0"/>
              </a:spcBef>
              <a:spcAft>
                <a:spcPts val="600"/>
              </a:spcAft>
            </a:pPr>
            <a:r>
              <a:rPr sz="1250" b="0">
                <a:solidFill>
                  <a:srgbClr val="23282D"/>
                </a:solidFill>
                <a:latin typeface="Segoe UI"/>
              </a:rPr>
              <a:t>From 1929/1971-era figures to WIS hindcasts, USGS DSAS, NAVD88, and NOAA VDatum.</a:t>
            </a:r>
          </a:p>
        </p:txBody>
      </p:sp>
      <p:sp>
        <p:nvSpPr>
          <p:cNvPr id="30" name="TextBox 29"/>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31" name="TextBox 30"/>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MODERNIZATION CANDIDATES — HIGH PRIORITY (1 OF 4)</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Sea-level rise &amp; climate adaptation</a:t>
            </a:r>
          </a:p>
        </p:txBody>
      </p:sp>
      <p:sp>
        <p:nvSpPr>
          <p:cNvPr id="6" name="Rectangle 5"/>
          <p:cNvSpPr/>
          <p:nvPr/>
        </p:nvSpPr>
        <p:spPr>
          <a:xfrm>
            <a:off x="640080" y="1828800"/>
            <a:ext cx="10908792" cy="601980"/>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54864" cy="60198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28800"/>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I-1-3 / I-2-5 — SLR &amp; climate absent from framing</a:t>
            </a:r>
          </a:p>
        </p:txBody>
      </p:sp>
      <p:sp>
        <p:nvSpPr>
          <p:cNvPr id="9" name="TextBox 8"/>
          <p:cNvSpPr txBox="1"/>
          <p:nvPr/>
        </p:nvSpPr>
        <p:spPr>
          <a:xfrm>
            <a:off x="5532120" y="1828800"/>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USACE ER 1100-2-8162 + Sea Level Change Curve Calculator; NOAA 2022 scenarios; IPCC AR6</a:t>
            </a:r>
          </a:p>
        </p:txBody>
      </p:sp>
      <p:sp>
        <p:nvSpPr>
          <p:cNvPr id="10" name="Rectangle 9"/>
          <p:cNvSpPr/>
          <p:nvPr/>
        </p:nvSpPr>
        <p:spPr>
          <a:xfrm>
            <a:off x="640080" y="2540508"/>
            <a:ext cx="10908792" cy="601980"/>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540508"/>
            <a:ext cx="54864" cy="601980"/>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540508"/>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II-5-4 — "sea level not rising to cause undue concern"</a:t>
            </a:r>
          </a:p>
        </p:txBody>
      </p:sp>
      <p:sp>
        <p:nvSpPr>
          <p:cNvPr id="13" name="TextBox 12"/>
          <p:cNvSpPr txBox="1"/>
          <p:nvPr/>
        </p:nvSpPr>
        <p:spPr>
          <a:xfrm>
            <a:off x="5532120" y="2540508"/>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Three-scenario relative sea-level-change analysis (ER 1100-2-8162, EP 1100-2-1)</a:t>
            </a:r>
          </a:p>
        </p:txBody>
      </p:sp>
      <p:sp>
        <p:nvSpPr>
          <p:cNvPr id="14" name="Rectangle 13"/>
          <p:cNvSpPr/>
          <p:nvPr/>
        </p:nvSpPr>
        <p:spPr>
          <a:xfrm>
            <a:off x="640080" y="3252216"/>
            <a:ext cx="10908792" cy="601980"/>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252216"/>
            <a:ext cx="54864" cy="60198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252216"/>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III-3-3h / IV-3-5f — Bruun Rule for SLR shoreline response</a:t>
            </a:r>
          </a:p>
        </p:txBody>
      </p:sp>
      <p:sp>
        <p:nvSpPr>
          <p:cNvPr id="17" name="TextBox 16"/>
          <p:cNvSpPr txBox="1"/>
          <p:nvPr/>
        </p:nvSpPr>
        <p:spPr>
          <a:xfrm>
            <a:off x="5532120" y="3252216"/>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Probabilistic / process-based: PCR model, sediment budget, XBeach / Delft3D / CMS</a:t>
            </a:r>
          </a:p>
        </p:txBody>
      </p:sp>
      <p:sp>
        <p:nvSpPr>
          <p:cNvPr id="18" name="Rectangle 17"/>
          <p:cNvSpPr/>
          <p:nvPr/>
        </p:nvSpPr>
        <p:spPr>
          <a:xfrm>
            <a:off x="640080" y="3963924"/>
            <a:ext cx="10908792" cy="601980"/>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963924"/>
            <a:ext cx="54864" cy="601980"/>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963924"/>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IV-1-6 — SLR existence, rate, and policy</a:t>
            </a:r>
          </a:p>
        </p:txBody>
      </p:sp>
      <p:sp>
        <p:nvSpPr>
          <p:cNvPr id="21" name="TextBox 20"/>
          <p:cNvSpPr txBox="1"/>
          <p:nvPr/>
        </p:nvSpPr>
        <p:spPr>
          <a:xfrm>
            <a:off x="5532120" y="3963924"/>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Treat accelerating SLR as established; design the full Low / Intermediate / High envelope</a:t>
            </a:r>
          </a:p>
        </p:txBody>
      </p:sp>
      <p:sp>
        <p:nvSpPr>
          <p:cNvPr id="22" name="Rectangle 21"/>
          <p:cNvSpPr/>
          <p:nvPr/>
        </p:nvSpPr>
        <p:spPr>
          <a:xfrm>
            <a:off x="640080" y="4675632"/>
            <a:ext cx="10908792" cy="601980"/>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675632"/>
            <a:ext cx="54864" cy="60198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675632"/>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V-2 / V-3 — SLR in project planning</a:t>
            </a:r>
          </a:p>
        </p:txBody>
      </p:sp>
      <p:sp>
        <p:nvSpPr>
          <p:cNvPr id="25" name="TextBox 24"/>
          <p:cNvSpPr txBox="1"/>
          <p:nvPr/>
        </p:nvSpPr>
        <p:spPr>
          <a:xfrm>
            <a:off x="5532120" y="4675632"/>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Adaptive pathways and adaptation tipping points; NOAA 2022; IPCC AR6</a:t>
            </a:r>
          </a:p>
        </p:txBody>
      </p:sp>
      <p:sp>
        <p:nvSpPr>
          <p:cNvPr id="26" name="Rectangle 25"/>
          <p:cNvSpPr/>
          <p:nvPr/>
        </p:nvSpPr>
        <p:spPr>
          <a:xfrm>
            <a:off x="640080" y="5387340"/>
            <a:ext cx="10908792" cy="601980"/>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5387340"/>
            <a:ext cx="54864" cy="601980"/>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387340"/>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VI-1/3/5/8 — SLR &amp; life-cycle design basis</a:t>
            </a:r>
          </a:p>
        </p:txBody>
      </p:sp>
      <p:sp>
        <p:nvSpPr>
          <p:cNvPr id="29" name="TextBox 28"/>
          <p:cNvSpPr txBox="1"/>
          <p:nvPr/>
        </p:nvSpPr>
        <p:spPr>
          <a:xfrm>
            <a:off x="5532120" y="5387340"/>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Apply ER 1100-2-8162 and EP 1100-2-1 across all design conditions</a:t>
            </a:r>
          </a:p>
        </p:txBody>
      </p:sp>
      <p:sp>
        <p:nvSpPr>
          <p:cNvPr id="30" name="TextBox 29"/>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31" name="TextBox 30"/>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MODERNIZATION CANDIDATES — HIGH PRIORITY (2 OF 4)</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Probabilistic coastal-hazard, surge &amp; wave climate</a:t>
            </a:r>
          </a:p>
        </p:txBody>
      </p:sp>
      <p:sp>
        <p:nvSpPr>
          <p:cNvPr id="6" name="Rectangle 5"/>
          <p:cNvSpPr/>
          <p:nvPr/>
        </p:nvSpPr>
        <p:spPr>
          <a:xfrm>
            <a:off x="640080" y="1783080"/>
            <a:ext cx="10908792" cy="50683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83080"/>
            <a:ext cx="54864" cy="50683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83080"/>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II-5-5b / II-8-5d — Empirical Simulation Technique (EST) &amp; traditional JPM</a:t>
            </a:r>
          </a:p>
        </p:txBody>
      </p:sp>
      <p:sp>
        <p:nvSpPr>
          <p:cNvPr id="9" name="TextBox 8"/>
          <p:cNvSpPr txBox="1"/>
          <p:nvPr/>
        </p:nvSpPr>
        <p:spPr>
          <a:xfrm>
            <a:off x="5532120" y="1783080"/>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JPM-OS with ADCIRC+SWAN/STWAVE storm suites; USACE Coastal Hazards System (CHS)</a:t>
            </a:r>
          </a:p>
        </p:txBody>
      </p:sp>
      <p:sp>
        <p:nvSpPr>
          <p:cNvPr id="10" name="Rectangle 9"/>
          <p:cNvSpPr/>
          <p:nvPr/>
        </p:nvSpPr>
        <p:spPr>
          <a:xfrm>
            <a:off x="640080" y="2399646"/>
            <a:ext cx="10908792" cy="50683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399646"/>
            <a:ext cx="54864" cy="506838"/>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399646"/>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IV-1-5b / EM 1110-2-1412 — still-water surge / base flood elevation</a:t>
            </a:r>
          </a:p>
        </p:txBody>
      </p:sp>
      <p:sp>
        <p:nvSpPr>
          <p:cNvPr id="13" name="TextBox 12"/>
          <p:cNvSpPr txBox="1"/>
          <p:nvPr/>
        </p:nvSpPr>
        <p:spPr>
          <a:xfrm>
            <a:off x="5532120" y="2399646"/>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FEMA coastal flood-hazard mapping; ADCIRC+SWAN; JPM-OS / response-surface emulators</a:t>
            </a:r>
          </a:p>
        </p:txBody>
      </p:sp>
      <p:sp>
        <p:nvSpPr>
          <p:cNvPr id="14" name="Rectangle 13"/>
          <p:cNvSpPr/>
          <p:nvPr/>
        </p:nvSpPr>
        <p:spPr>
          <a:xfrm>
            <a:off x="640080" y="3016212"/>
            <a:ext cx="10908792" cy="50683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016212"/>
            <a:ext cx="54864" cy="50683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016212"/>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V-1 / V-3 / V-4 — EST risk-based storm-response method</a:t>
            </a:r>
          </a:p>
        </p:txBody>
      </p:sp>
      <p:sp>
        <p:nvSpPr>
          <p:cNvPr id="17" name="TextBox 16"/>
          <p:cNvSpPr txBox="1"/>
          <p:nvPr/>
        </p:nvSpPr>
        <p:spPr>
          <a:xfrm>
            <a:off x="5532120" y="3016212"/>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CHS / Probabilistic Coastal Hazard Analysis (NACCS, SACS); CSTORM-MS</a:t>
            </a:r>
          </a:p>
        </p:txBody>
      </p:sp>
      <p:sp>
        <p:nvSpPr>
          <p:cNvPr id="18" name="Rectangle 17"/>
          <p:cNvSpPr/>
          <p:nvPr/>
        </p:nvSpPr>
        <p:spPr>
          <a:xfrm>
            <a:off x="640080" y="3632778"/>
            <a:ext cx="10908792" cy="50683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632778"/>
            <a:ext cx="54864" cy="506838"/>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632778"/>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V-2 — Standard Project / Probable Maximum Hurricane</a:t>
            </a:r>
          </a:p>
        </p:txBody>
      </p:sp>
      <p:sp>
        <p:nvSpPr>
          <p:cNvPr id="21" name="TextBox 20"/>
          <p:cNvSpPr txBox="1"/>
          <p:nvPr/>
        </p:nvSpPr>
        <p:spPr>
          <a:xfrm>
            <a:off x="5532120" y="3632778"/>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JPM-OS + ADCIRC (STWAVE / unSWAN); hindcast &amp; reanalysis, not single-station tables</a:t>
            </a:r>
          </a:p>
        </p:txBody>
      </p:sp>
      <p:sp>
        <p:nvSpPr>
          <p:cNvPr id="22" name="Rectangle 21"/>
          <p:cNvSpPr/>
          <p:nvPr/>
        </p:nvSpPr>
        <p:spPr>
          <a:xfrm>
            <a:off x="640080" y="4249344"/>
            <a:ext cx="10908792" cy="50683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249344"/>
            <a:ext cx="54864" cy="50683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249344"/>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II-2-3 — U.S. wave-climate tables (older WIS database)</a:t>
            </a:r>
          </a:p>
        </p:txBody>
      </p:sp>
      <p:sp>
        <p:nvSpPr>
          <p:cNvPr id="25" name="TextBox 24"/>
          <p:cNvSpPr txBox="1"/>
          <p:nvPr/>
        </p:nvSpPr>
        <p:spPr>
          <a:xfrm>
            <a:off x="5532120" y="4249344"/>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Current WIS (wis.erdc.dren.mil) + CHS; WAVEWATCH III / WAM / SWAN production models</a:t>
            </a:r>
          </a:p>
        </p:txBody>
      </p:sp>
      <p:sp>
        <p:nvSpPr>
          <p:cNvPr id="26" name="Rectangle 25"/>
          <p:cNvSpPr/>
          <p:nvPr/>
        </p:nvSpPr>
        <p:spPr>
          <a:xfrm>
            <a:off x="640080" y="4865910"/>
            <a:ext cx="10908792" cy="50683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4865910"/>
            <a:ext cx="54864" cy="506838"/>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865910"/>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II-2-2 — 1G/2G hindcast models (WAVAD, WISWAVE, WAM)</a:t>
            </a:r>
          </a:p>
        </p:txBody>
      </p:sp>
      <p:sp>
        <p:nvSpPr>
          <p:cNvPr id="29" name="TextBox 28"/>
          <p:cNvSpPr txBox="1"/>
          <p:nvPr/>
        </p:nvSpPr>
        <p:spPr>
          <a:xfrm>
            <a:off x="5532120" y="4865910"/>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WAVEWATCH III, WAM Cycle 4.5+, and SWAN (nearshore)</a:t>
            </a:r>
          </a:p>
        </p:txBody>
      </p:sp>
      <p:sp>
        <p:nvSpPr>
          <p:cNvPr id="30" name="Rectangle 29"/>
          <p:cNvSpPr/>
          <p:nvPr/>
        </p:nvSpPr>
        <p:spPr>
          <a:xfrm>
            <a:off x="640080" y="5482476"/>
            <a:ext cx="10908792" cy="50683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 y="5482476"/>
            <a:ext cx="54864" cy="50683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5482476"/>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II-5-4 — NGVD 1929 vertical datums</a:t>
            </a:r>
          </a:p>
        </p:txBody>
      </p:sp>
      <p:sp>
        <p:nvSpPr>
          <p:cNvPr id="33" name="TextBox 32"/>
          <p:cNvSpPr txBox="1"/>
          <p:nvPr/>
        </p:nvSpPr>
        <p:spPr>
          <a:xfrm>
            <a:off x="5532120" y="5482476"/>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NAVD88 (NATRF2022 forthcoming); NOAA VDatum; current National Tidal Datum Epoch</a:t>
            </a:r>
          </a:p>
        </p:txBody>
      </p:sp>
      <p:sp>
        <p:nvSpPr>
          <p:cNvPr id="34" name="TextBox 33"/>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35" name="TextBox 34"/>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MODERNIZATION CANDIDATES — HIGH PRIORITY (3 OF 4)</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Coastal-structure design: runup, overtopping, armor, forces</a:t>
            </a:r>
          </a:p>
        </p:txBody>
      </p:sp>
      <p:sp>
        <p:nvSpPr>
          <p:cNvPr id="6" name="Rectangle 5"/>
          <p:cNvSpPr/>
          <p:nvPr/>
        </p:nvSpPr>
        <p:spPr>
          <a:xfrm>
            <a:off x="640080" y="1828800"/>
            <a:ext cx="10908792" cy="601980"/>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54864" cy="60198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28800"/>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I-4 — reliance on the 1984 Shore Protection Manual</a:t>
            </a:r>
          </a:p>
        </p:txBody>
      </p:sp>
      <p:sp>
        <p:nvSpPr>
          <p:cNvPr id="9" name="TextBox 8"/>
          <p:cNvSpPr txBox="1"/>
          <p:nvPr/>
        </p:nvSpPr>
        <p:spPr>
          <a:xfrm>
            <a:off x="5532120" y="1828800"/>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EurOtop (2018); Rock Manual (CIRIA C683, 2007); reliability / risk-based design</a:t>
            </a:r>
          </a:p>
        </p:txBody>
      </p:sp>
      <p:sp>
        <p:nvSpPr>
          <p:cNvPr id="10" name="Rectangle 9"/>
          <p:cNvSpPr/>
          <p:nvPr/>
        </p:nvSpPr>
        <p:spPr>
          <a:xfrm>
            <a:off x="640080" y="2540508"/>
            <a:ext cx="10908792" cy="601980"/>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540508"/>
            <a:ext cx="54864" cy="601980"/>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540508"/>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II-4-4 — wave runup on beaches (Hunt 1959, Mase 1989)</a:t>
            </a:r>
          </a:p>
        </p:txBody>
      </p:sp>
      <p:sp>
        <p:nvSpPr>
          <p:cNvPr id="13" name="TextBox 12"/>
          <p:cNvSpPr txBox="1"/>
          <p:nvPr/>
        </p:nvSpPr>
        <p:spPr>
          <a:xfrm>
            <a:off x="5532120" y="2540508"/>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Stockdon et al. (2006); EurOtop (2018); FEMA (2018); XBeach for complex cases</a:t>
            </a:r>
          </a:p>
        </p:txBody>
      </p:sp>
      <p:sp>
        <p:nvSpPr>
          <p:cNvPr id="14" name="Rectangle 13"/>
          <p:cNvSpPr/>
          <p:nvPr/>
        </p:nvSpPr>
        <p:spPr>
          <a:xfrm>
            <a:off x="640080" y="3252216"/>
            <a:ext cx="10908792" cy="601980"/>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252216"/>
            <a:ext cx="54864" cy="60198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252216"/>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VI-5-2b (Tables VI-5-8..12) — mean wave overtopping</a:t>
            </a:r>
          </a:p>
        </p:txBody>
      </p:sp>
      <p:sp>
        <p:nvSpPr>
          <p:cNvPr id="17" name="TextBox 16"/>
          <p:cNvSpPr txBox="1"/>
          <p:nvPr/>
        </p:nvSpPr>
        <p:spPr>
          <a:xfrm>
            <a:off x="5532120" y="3252216"/>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EurOtop (2018), adopted by FEMA 2023; PC-Overtopping / neural-network tools</a:t>
            </a:r>
          </a:p>
        </p:txBody>
      </p:sp>
      <p:sp>
        <p:nvSpPr>
          <p:cNvPr id="18" name="Rectangle 17"/>
          <p:cNvSpPr/>
          <p:nvPr/>
        </p:nvSpPr>
        <p:spPr>
          <a:xfrm>
            <a:off x="640080" y="3963924"/>
            <a:ext cx="10908792" cy="601980"/>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963924"/>
            <a:ext cx="54864" cy="601980"/>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963924"/>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VI-5-2a (Tables VI-5-1..7) — wave runup on slopes</a:t>
            </a:r>
          </a:p>
        </p:txBody>
      </p:sp>
      <p:sp>
        <p:nvSpPr>
          <p:cNvPr id="21" name="TextBox 20"/>
          <p:cNvSpPr txBox="1"/>
          <p:nvPr/>
        </p:nvSpPr>
        <p:spPr>
          <a:xfrm>
            <a:off x="5532120" y="3963924"/>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EurOtop (2018) runup formulae and influence-factor tables</a:t>
            </a:r>
          </a:p>
        </p:txBody>
      </p:sp>
      <p:sp>
        <p:nvSpPr>
          <p:cNvPr id="22" name="Rectangle 21"/>
          <p:cNvSpPr/>
          <p:nvPr/>
        </p:nvSpPr>
        <p:spPr>
          <a:xfrm>
            <a:off x="640080" y="4675632"/>
            <a:ext cx="10908792" cy="601980"/>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675632"/>
            <a:ext cx="54864" cy="60198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675632"/>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VI-5-3a (Tables VI-5-22/23) — rubble-mound armor stability</a:t>
            </a:r>
          </a:p>
        </p:txBody>
      </p:sp>
      <p:sp>
        <p:nvSpPr>
          <p:cNvPr id="25" name="TextBox 24"/>
          <p:cNvSpPr txBox="1"/>
          <p:nvPr/>
        </p:nvSpPr>
        <p:spPr>
          <a:xfrm>
            <a:off x="5532120" y="4675632"/>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Rock Manual (C683); Van der Meer / Van Gent; site-specific physical model tests</a:t>
            </a:r>
          </a:p>
        </p:txBody>
      </p:sp>
      <p:sp>
        <p:nvSpPr>
          <p:cNvPr id="26" name="Rectangle 25"/>
          <p:cNvSpPr/>
          <p:nvPr/>
        </p:nvSpPr>
        <p:spPr>
          <a:xfrm>
            <a:off x="640080" y="5387340"/>
            <a:ext cx="10908792" cy="601980"/>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5387340"/>
            <a:ext cx="54864" cy="601980"/>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387340"/>
            <a:ext cx="4617720"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VI-5-4 (Tables VI-5-53..55) — wave forces on vertical / composite walls</a:t>
            </a:r>
          </a:p>
        </p:txBody>
      </p:sp>
      <p:sp>
        <p:nvSpPr>
          <p:cNvPr id="29" name="TextBox 28"/>
          <p:cNvSpPr txBox="1"/>
          <p:nvPr/>
        </p:nvSpPr>
        <p:spPr>
          <a:xfrm>
            <a:off x="5532120" y="5387340"/>
            <a:ext cx="6016752" cy="601980"/>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EurOtop / PROVERBS (Oumeraci et al. 2001); CFD / SPH; physical model tests</a:t>
            </a:r>
          </a:p>
        </p:txBody>
      </p:sp>
      <p:sp>
        <p:nvSpPr>
          <p:cNvPr id="30" name="TextBox 29"/>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31" name="TextBox 30"/>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MODERNIZATION CANDIDATES — HIGH PRIORITY (4 OF 4)</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Sediment transport, shoreline change &amp; nature-based features</a:t>
            </a:r>
          </a:p>
        </p:txBody>
      </p:sp>
      <p:sp>
        <p:nvSpPr>
          <p:cNvPr id="6" name="Rectangle 5"/>
          <p:cNvSpPr/>
          <p:nvPr/>
        </p:nvSpPr>
        <p:spPr>
          <a:xfrm>
            <a:off x="640080" y="1783080"/>
            <a:ext cx="10908792" cy="50683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83080"/>
            <a:ext cx="54864" cy="50683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83080"/>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III-2-3a — CERC / SPM bulk-energy-flux longshore transport</a:t>
            </a:r>
          </a:p>
        </p:txBody>
      </p:sp>
      <p:sp>
        <p:nvSpPr>
          <p:cNvPr id="9" name="TextBox 8"/>
          <p:cNvSpPr txBox="1"/>
          <p:nvPr/>
        </p:nvSpPr>
        <p:spPr>
          <a:xfrm>
            <a:off x="5532120" y="1783080"/>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Kamphuis (2002); GenCade / CMS / Delft3D; treat CERC as order-of-magnitude with uncertainty</a:t>
            </a:r>
          </a:p>
        </p:txBody>
      </p:sp>
      <p:sp>
        <p:nvSpPr>
          <p:cNvPr id="10" name="Rectangle 9"/>
          <p:cNvSpPr/>
          <p:nvPr/>
        </p:nvSpPr>
        <p:spPr>
          <a:xfrm>
            <a:off x="640080" y="2399646"/>
            <a:ext cx="10908792" cy="50683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399646"/>
            <a:ext cx="54864" cy="506838"/>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399646"/>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III-2-4b / V-3-3e — GENESIS shoreline-change model</a:t>
            </a:r>
          </a:p>
        </p:txBody>
      </p:sp>
      <p:sp>
        <p:nvSpPr>
          <p:cNvPr id="13" name="TextBox 12"/>
          <p:cNvSpPr txBox="1"/>
          <p:nvPr/>
        </p:nvSpPr>
        <p:spPr>
          <a:xfrm>
            <a:off x="5532120" y="2399646"/>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GenCade v1.x in SMS with CMS-Wave / CMS-Flow; Delft3D / MIKE21 for area models</a:t>
            </a:r>
          </a:p>
        </p:txBody>
      </p:sp>
      <p:sp>
        <p:nvSpPr>
          <p:cNvPr id="14" name="Rectangle 13"/>
          <p:cNvSpPr/>
          <p:nvPr/>
        </p:nvSpPr>
        <p:spPr>
          <a:xfrm>
            <a:off x="640080" y="3016212"/>
            <a:ext cx="10908792" cy="50683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016212"/>
            <a:ext cx="54864" cy="50683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016212"/>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III-3-3i/k / V-4 — SBEACH cross-shore storm response</a:t>
            </a:r>
          </a:p>
        </p:txBody>
      </p:sp>
      <p:sp>
        <p:nvSpPr>
          <p:cNvPr id="17" name="TextBox 16"/>
          <p:cNvSpPr txBox="1"/>
          <p:nvPr/>
        </p:nvSpPr>
        <p:spPr>
          <a:xfrm>
            <a:off x="5532120" y="3016212"/>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XBeach (non-hydrostatic) and CSHORE; couple with probabilistic storm forcing</a:t>
            </a:r>
          </a:p>
        </p:txBody>
      </p:sp>
      <p:sp>
        <p:nvSpPr>
          <p:cNvPr id="18" name="Rectangle 17"/>
          <p:cNvSpPr/>
          <p:nvPr/>
        </p:nvSpPr>
        <p:spPr>
          <a:xfrm>
            <a:off x="640080" y="3632778"/>
            <a:ext cx="10908792" cy="50683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632778"/>
            <a:ext cx="54864" cy="506838"/>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632778"/>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V-3 / V-4 — coastal-armor structural design references</a:t>
            </a:r>
          </a:p>
        </p:txBody>
      </p:sp>
      <p:sp>
        <p:nvSpPr>
          <p:cNvPr id="21" name="TextBox 20"/>
          <p:cNvSpPr txBox="1"/>
          <p:nvPr/>
        </p:nvSpPr>
        <p:spPr>
          <a:xfrm>
            <a:off x="5532120" y="3632778"/>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EurOtop (2018); ASCE 7-22 Ch. 5 (flood loads); FEMA Coastal Construction Manual (P-55)</a:t>
            </a:r>
          </a:p>
        </p:txBody>
      </p:sp>
      <p:sp>
        <p:nvSpPr>
          <p:cNvPr id="22" name="Rectangle 21"/>
          <p:cNvSpPr/>
          <p:nvPr/>
        </p:nvSpPr>
        <p:spPr>
          <a:xfrm>
            <a:off x="640080" y="4249344"/>
            <a:ext cx="10908792" cy="50683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249344"/>
            <a:ext cx="54864" cy="50683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249344"/>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I-2-5 / V-7 — hard-vs-soft solution taxonomy</a:t>
            </a:r>
          </a:p>
        </p:txBody>
      </p:sp>
      <p:sp>
        <p:nvSpPr>
          <p:cNvPr id="25" name="TextBox 24"/>
          <p:cNvSpPr txBox="1"/>
          <p:nvPr/>
        </p:nvSpPr>
        <p:spPr>
          <a:xfrm>
            <a:off x="5532120" y="4249344"/>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NNBF International Guidelines (2021); Engineering With Nature; living shorelines</a:t>
            </a:r>
          </a:p>
        </p:txBody>
      </p:sp>
      <p:sp>
        <p:nvSpPr>
          <p:cNvPr id="26" name="Rectangle 25"/>
          <p:cNvSpPr/>
          <p:nvPr/>
        </p:nvSpPr>
        <p:spPr>
          <a:xfrm>
            <a:off x="640080" y="4865910"/>
            <a:ext cx="10908792" cy="50683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4865910"/>
            <a:ext cx="54864" cy="506838"/>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865910"/>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I-2-4 — 1971 National Shoreline Study erosion statistics</a:t>
            </a:r>
          </a:p>
        </p:txBody>
      </p:sp>
      <p:sp>
        <p:nvSpPr>
          <p:cNvPr id="29" name="TextBox 28"/>
          <p:cNvSpPr txBox="1"/>
          <p:nvPr/>
        </p:nvSpPr>
        <p:spPr>
          <a:xfrm>
            <a:off x="5532120" y="4865910"/>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USGS National Assessment of Shoreline Change (DSAS); Coastal Change Hazards Portal</a:t>
            </a:r>
          </a:p>
        </p:txBody>
      </p:sp>
      <p:sp>
        <p:nvSpPr>
          <p:cNvPr id="30" name="Rectangle 29"/>
          <p:cNvSpPr/>
          <p:nvPr/>
        </p:nvSpPr>
        <p:spPr>
          <a:xfrm>
            <a:off x="640080" y="5482476"/>
            <a:ext cx="10908792" cy="50683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 y="5482476"/>
            <a:ext cx="54864" cy="50683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5482476"/>
            <a:ext cx="4617720"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1D3A4F"/>
                </a:solidFill>
                <a:latin typeface="Segoe UI"/>
              </a:rPr>
              <a:t>I-1-1 — "current state-of-the-art" self-description</a:t>
            </a:r>
          </a:p>
        </p:txBody>
      </p:sp>
      <p:sp>
        <p:nvSpPr>
          <p:cNvPr id="33" name="TextBox 32"/>
          <p:cNvSpPr txBox="1"/>
          <p:nvPr/>
        </p:nvSpPr>
        <p:spPr>
          <a:xfrm>
            <a:off x="5532120" y="5482476"/>
            <a:ext cx="6016752" cy="50683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2E7D46"/>
                </a:solidFill>
                <a:latin typeface="Segoe UI"/>
              </a:rPr>
              <a:t>→  </a:t>
            </a:r>
            <a:r>
              <a:rPr sz="1250" b="0">
                <a:solidFill>
                  <a:srgbClr val="23282D"/>
                </a:solidFill>
                <a:latin typeface="Segoe UI"/>
              </a:rPr>
              <a:t>Cross-check against current ERDC-CHL guidance, CHS, and Engineering With Nature</a:t>
            </a:r>
          </a:p>
        </p:txBody>
      </p:sp>
      <p:sp>
        <p:nvSpPr>
          <p:cNvPr id="34" name="TextBox 33"/>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35" name="TextBox 34"/>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CEM TOPIC CROSSWALK</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Twelve cross-cutting topics → CEM coverage</a:t>
            </a:r>
          </a:p>
        </p:txBody>
      </p:sp>
      <p:sp>
        <p:nvSpPr>
          <p:cNvPr id="6" name="TextBox 5"/>
          <p:cNvSpPr txBox="1"/>
          <p:nvPr/>
        </p:nvSpPr>
        <p:spPr>
          <a:xfrm>
            <a:off x="658368" y="1389888"/>
            <a:ext cx="10972800" cy="45720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2A7D8C"/>
                </a:solidFill>
                <a:latin typeface="Segoe UI"/>
              </a:rPr>
              <a:t>Primary = a main subject of the chapter. Topics 1-6.</a:t>
            </a:r>
          </a:p>
        </p:txBody>
      </p:sp>
      <p:sp>
        <p:nvSpPr>
          <p:cNvPr id="7" name="TextBox 6"/>
          <p:cNvSpPr txBox="1"/>
          <p:nvPr/>
        </p:nvSpPr>
        <p:spPr>
          <a:xfrm>
            <a:off x="1188720" y="1572768"/>
            <a:ext cx="384048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a:solidFill>
                  <a:srgbClr val="6B7280"/>
                </a:solidFill>
                <a:latin typeface="Segoe UI"/>
              </a:rPr>
              <a:t>TOPIC</a:t>
            </a:r>
          </a:p>
        </p:txBody>
      </p:sp>
      <p:sp>
        <p:nvSpPr>
          <p:cNvPr id="8" name="TextBox 7"/>
          <p:cNvSpPr txBox="1"/>
          <p:nvPr/>
        </p:nvSpPr>
        <p:spPr>
          <a:xfrm>
            <a:off x="5577840" y="1572768"/>
            <a:ext cx="548640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a:solidFill>
                  <a:srgbClr val="6B7280"/>
                </a:solidFill>
                <a:latin typeface="Segoe UI"/>
              </a:rPr>
              <a:t>PRIMARY CEM COVERAGE</a:t>
            </a:r>
          </a:p>
        </p:txBody>
      </p:sp>
      <p:sp>
        <p:nvSpPr>
          <p:cNvPr id="9" name="Rectangle 8"/>
          <p:cNvSpPr/>
          <p:nvPr/>
        </p:nvSpPr>
        <p:spPr>
          <a:xfrm>
            <a:off x="640080" y="1874519"/>
            <a:ext cx="10908792" cy="65836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74519"/>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74519"/>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1</a:t>
            </a:r>
          </a:p>
        </p:txBody>
      </p:sp>
      <p:sp>
        <p:nvSpPr>
          <p:cNvPr id="12" name="TextBox 11"/>
          <p:cNvSpPr txBox="1"/>
          <p:nvPr/>
        </p:nvSpPr>
        <p:spPr>
          <a:xfrm>
            <a:off x="1234440" y="1874519"/>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Coastal projects &amp; hazards</a:t>
            </a:r>
          </a:p>
        </p:txBody>
      </p:sp>
      <p:sp>
        <p:nvSpPr>
          <p:cNvPr id="13" name="TextBox 12"/>
          <p:cNvSpPr txBox="1"/>
          <p:nvPr/>
        </p:nvSpPr>
        <p:spPr>
          <a:xfrm>
            <a:off x="5577840" y="1874519"/>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V-1, V-3, V-5, V-7; I-1 / I-2; VI-2</a:t>
            </a:r>
          </a:p>
        </p:txBody>
      </p:sp>
      <p:sp>
        <p:nvSpPr>
          <p:cNvPr id="14" name="Rectangle 13"/>
          <p:cNvSpPr/>
          <p:nvPr/>
        </p:nvSpPr>
        <p:spPr>
          <a:xfrm>
            <a:off x="640080" y="2624327"/>
            <a:ext cx="10908792" cy="65836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624327"/>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624327"/>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2</a:t>
            </a:r>
          </a:p>
        </p:txBody>
      </p:sp>
      <p:sp>
        <p:nvSpPr>
          <p:cNvPr id="17" name="TextBox 16"/>
          <p:cNvSpPr txBox="1"/>
          <p:nvPr/>
        </p:nvSpPr>
        <p:spPr>
          <a:xfrm>
            <a:off x="1234440" y="2624327"/>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Coastal measurements</a:t>
            </a:r>
          </a:p>
        </p:txBody>
      </p:sp>
      <p:sp>
        <p:nvSpPr>
          <p:cNvPr id="18" name="TextBox 17"/>
          <p:cNvSpPr txBox="1"/>
          <p:nvPr/>
        </p:nvSpPr>
        <p:spPr>
          <a:xfrm>
            <a:off x="5577840" y="2624327"/>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V-2 Site Characterization; II-8; VI-8 Monitoring</a:t>
            </a:r>
          </a:p>
        </p:txBody>
      </p:sp>
      <p:sp>
        <p:nvSpPr>
          <p:cNvPr id="19" name="Rectangle 18"/>
          <p:cNvSpPr/>
          <p:nvPr/>
        </p:nvSpPr>
        <p:spPr>
          <a:xfrm>
            <a:off x="640080" y="3374135"/>
            <a:ext cx="10908792" cy="65836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374135"/>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374135"/>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3</a:t>
            </a:r>
          </a:p>
        </p:txBody>
      </p:sp>
      <p:sp>
        <p:nvSpPr>
          <p:cNvPr id="22" name="TextBox 21"/>
          <p:cNvSpPr txBox="1"/>
          <p:nvPr/>
        </p:nvSpPr>
        <p:spPr>
          <a:xfrm>
            <a:off x="1234440" y="3374135"/>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Modeling data resources</a:t>
            </a:r>
          </a:p>
        </p:txBody>
      </p:sp>
      <p:sp>
        <p:nvSpPr>
          <p:cNvPr id="23" name="TextBox 22"/>
          <p:cNvSpPr txBox="1"/>
          <p:nvPr/>
        </p:nvSpPr>
        <p:spPr>
          <a:xfrm>
            <a:off x="5577840" y="3374135"/>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II-2 (WIS hindcasts); II-3; V-2</a:t>
            </a:r>
          </a:p>
        </p:txBody>
      </p:sp>
      <p:sp>
        <p:nvSpPr>
          <p:cNvPr id="24" name="Rectangle 23"/>
          <p:cNvSpPr/>
          <p:nvPr/>
        </p:nvSpPr>
        <p:spPr>
          <a:xfrm>
            <a:off x="640080" y="4123943"/>
            <a:ext cx="10908792" cy="65836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123943"/>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123943"/>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4</a:t>
            </a:r>
          </a:p>
        </p:txBody>
      </p:sp>
      <p:sp>
        <p:nvSpPr>
          <p:cNvPr id="27" name="TextBox 26"/>
          <p:cNvSpPr txBox="1"/>
          <p:nvPr/>
        </p:nvSpPr>
        <p:spPr>
          <a:xfrm>
            <a:off x="1234440" y="4123943"/>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Typical CE workflows</a:t>
            </a:r>
          </a:p>
        </p:txBody>
      </p:sp>
      <p:sp>
        <p:nvSpPr>
          <p:cNvPr id="28" name="TextBox 27"/>
          <p:cNvSpPr txBox="1"/>
          <p:nvPr/>
        </p:nvSpPr>
        <p:spPr>
          <a:xfrm>
            <a:off x="5577840" y="4123943"/>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V-1 design process; VI-5; V-3 / V-4 / V-5</a:t>
            </a:r>
          </a:p>
        </p:txBody>
      </p:sp>
      <p:sp>
        <p:nvSpPr>
          <p:cNvPr id="29" name="Rectangle 28"/>
          <p:cNvSpPr/>
          <p:nvPr/>
        </p:nvSpPr>
        <p:spPr>
          <a:xfrm>
            <a:off x="640080" y="4873751"/>
            <a:ext cx="10908792" cy="65836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4873751"/>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873751"/>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5</a:t>
            </a:r>
          </a:p>
        </p:txBody>
      </p:sp>
      <p:sp>
        <p:nvSpPr>
          <p:cNvPr id="32" name="TextBox 31"/>
          <p:cNvSpPr txBox="1"/>
          <p:nvPr/>
        </p:nvSpPr>
        <p:spPr>
          <a:xfrm>
            <a:off x="1234440" y="4873751"/>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Storm-hazard probabilistic analysis</a:t>
            </a:r>
          </a:p>
        </p:txBody>
      </p:sp>
      <p:sp>
        <p:nvSpPr>
          <p:cNvPr id="33" name="TextBox 32"/>
          <p:cNvSpPr txBox="1"/>
          <p:nvPr/>
        </p:nvSpPr>
        <p:spPr>
          <a:xfrm>
            <a:off x="5577840" y="4873751"/>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II-8 (extremal, JPM); II-5; II-2</a:t>
            </a:r>
          </a:p>
        </p:txBody>
      </p:sp>
      <p:sp>
        <p:nvSpPr>
          <p:cNvPr id="34" name="Rectangle 33"/>
          <p:cNvSpPr/>
          <p:nvPr/>
        </p:nvSpPr>
        <p:spPr>
          <a:xfrm>
            <a:off x="640080" y="5623559"/>
            <a:ext cx="10908792" cy="65836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 y="5623559"/>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623559"/>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6</a:t>
            </a:r>
          </a:p>
        </p:txBody>
      </p:sp>
      <p:sp>
        <p:nvSpPr>
          <p:cNvPr id="37" name="TextBox 36"/>
          <p:cNvSpPr txBox="1"/>
          <p:nvPr/>
        </p:nvSpPr>
        <p:spPr>
          <a:xfrm>
            <a:off x="1234440" y="5623559"/>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Navigation structure response</a:t>
            </a:r>
          </a:p>
        </p:txBody>
      </p:sp>
      <p:sp>
        <p:nvSpPr>
          <p:cNvPr id="38" name="TextBox 37"/>
          <p:cNvSpPr txBox="1"/>
          <p:nvPr/>
        </p:nvSpPr>
        <p:spPr>
          <a:xfrm>
            <a:off x="5577840" y="5623559"/>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VI-5 fundamentals of design; VI-2; VI-7</a:t>
            </a:r>
          </a:p>
        </p:txBody>
      </p:sp>
      <p:sp>
        <p:nvSpPr>
          <p:cNvPr id="39" name="TextBox 38"/>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40" name="TextBox 39"/>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CEM TOPIC CROSSWALK</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Twelve cross-cutting topics → CEM coverage</a:t>
            </a:r>
          </a:p>
        </p:txBody>
      </p:sp>
      <p:sp>
        <p:nvSpPr>
          <p:cNvPr id="6" name="TextBox 5"/>
          <p:cNvSpPr txBox="1"/>
          <p:nvPr/>
        </p:nvSpPr>
        <p:spPr>
          <a:xfrm>
            <a:off x="658368" y="1389888"/>
            <a:ext cx="10972800" cy="45720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2A7D8C"/>
                </a:solidFill>
                <a:latin typeface="Segoe UI"/>
              </a:rPr>
              <a:t>Topics 7-12.</a:t>
            </a:r>
          </a:p>
        </p:txBody>
      </p:sp>
      <p:sp>
        <p:nvSpPr>
          <p:cNvPr id="7" name="TextBox 6"/>
          <p:cNvSpPr txBox="1"/>
          <p:nvPr/>
        </p:nvSpPr>
        <p:spPr>
          <a:xfrm>
            <a:off x="1188720" y="1572768"/>
            <a:ext cx="384048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a:solidFill>
                  <a:srgbClr val="6B7280"/>
                </a:solidFill>
                <a:latin typeface="Segoe UI"/>
              </a:rPr>
              <a:t>TOPIC</a:t>
            </a:r>
          </a:p>
        </p:txBody>
      </p:sp>
      <p:sp>
        <p:nvSpPr>
          <p:cNvPr id="8" name="TextBox 7"/>
          <p:cNvSpPr txBox="1"/>
          <p:nvPr/>
        </p:nvSpPr>
        <p:spPr>
          <a:xfrm>
            <a:off x="5577840" y="1572768"/>
            <a:ext cx="548640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a:solidFill>
                  <a:srgbClr val="6B7280"/>
                </a:solidFill>
                <a:latin typeface="Segoe UI"/>
              </a:rPr>
              <a:t>PRIMARY CEM COVERAGE</a:t>
            </a:r>
          </a:p>
        </p:txBody>
      </p:sp>
      <p:sp>
        <p:nvSpPr>
          <p:cNvPr id="9" name="Rectangle 8"/>
          <p:cNvSpPr/>
          <p:nvPr/>
        </p:nvSpPr>
        <p:spPr>
          <a:xfrm>
            <a:off x="640080" y="1874519"/>
            <a:ext cx="10908792" cy="65836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74519"/>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74519"/>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7</a:t>
            </a:r>
          </a:p>
        </p:txBody>
      </p:sp>
      <p:sp>
        <p:nvSpPr>
          <p:cNvPr id="12" name="TextBox 11"/>
          <p:cNvSpPr txBox="1"/>
          <p:nvPr/>
        </p:nvSpPr>
        <p:spPr>
          <a:xfrm>
            <a:off x="1234440" y="1874519"/>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Navigation functional response</a:t>
            </a:r>
          </a:p>
        </p:txBody>
      </p:sp>
      <p:sp>
        <p:nvSpPr>
          <p:cNvPr id="13" name="TextBox 12"/>
          <p:cNvSpPr txBox="1"/>
          <p:nvPr/>
        </p:nvSpPr>
        <p:spPr>
          <a:xfrm>
            <a:off x="5577840" y="1874519"/>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II-7 Harbor Hydrodynamics; V-5; II-6 Tidal Inlets</a:t>
            </a:r>
          </a:p>
        </p:txBody>
      </p:sp>
      <p:sp>
        <p:nvSpPr>
          <p:cNvPr id="14" name="Rectangle 13"/>
          <p:cNvSpPr/>
          <p:nvPr/>
        </p:nvSpPr>
        <p:spPr>
          <a:xfrm>
            <a:off x="640080" y="2624327"/>
            <a:ext cx="10908792" cy="65836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624327"/>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624327"/>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8</a:t>
            </a:r>
          </a:p>
        </p:txBody>
      </p:sp>
      <p:sp>
        <p:nvSpPr>
          <p:cNvPr id="17" name="TextBox 16"/>
          <p:cNvSpPr txBox="1"/>
          <p:nvPr/>
        </p:nvSpPr>
        <p:spPr>
          <a:xfrm>
            <a:off x="1234440" y="2624327"/>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Flood-risk-reduction structure response</a:t>
            </a:r>
          </a:p>
        </p:txBody>
      </p:sp>
      <p:sp>
        <p:nvSpPr>
          <p:cNvPr id="18" name="TextBox 17"/>
          <p:cNvSpPr txBox="1"/>
          <p:nvPr/>
        </p:nvSpPr>
        <p:spPr>
          <a:xfrm>
            <a:off x="5577840" y="2624327"/>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VI-5 (overtopping, runup, stability); V-3; VI-2</a:t>
            </a:r>
          </a:p>
        </p:txBody>
      </p:sp>
      <p:sp>
        <p:nvSpPr>
          <p:cNvPr id="19" name="Rectangle 18"/>
          <p:cNvSpPr/>
          <p:nvPr/>
        </p:nvSpPr>
        <p:spPr>
          <a:xfrm>
            <a:off x="640080" y="3374135"/>
            <a:ext cx="10908792" cy="65836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374135"/>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374135"/>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9</a:t>
            </a:r>
          </a:p>
        </p:txBody>
      </p:sp>
      <p:sp>
        <p:nvSpPr>
          <p:cNvPr id="22" name="TextBox 21"/>
          <p:cNvSpPr txBox="1"/>
          <p:nvPr/>
        </p:nvSpPr>
        <p:spPr>
          <a:xfrm>
            <a:off x="1234440" y="3374135"/>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Coastal morphology</a:t>
            </a:r>
          </a:p>
        </p:txBody>
      </p:sp>
      <p:sp>
        <p:nvSpPr>
          <p:cNvPr id="23" name="TextBox 22"/>
          <p:cNvSpPr txBox="1"/>
          <p:nvPr/>
        </p:nvSpPr>
        <p:spPr>
          <a:xfrm>
            <a:off x="5577840" y="3374135"/>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IV-2, IV-3; III-2, III-3, III-5</a:t>
            </a:r>
          </a:p>
        </p:txBody>
      </p:sp>
      <p:sp>
        <p:nvSpPr>
          <p:cNvPr id="24" name="Rectangle 23"/>
          <p:cNvSpPr/>
          <p:nvPr/>
        </p:nvSpPr>
        <p:spPr>
          <a:xfrm>
            <a:off x="640080" y="4123943"/>
            <a:ext cx="10908792" cy="65836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123943"/>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123943"/>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10</a:t>
            </a:r>
          </a:p>
        </p:txBody>
      </p:sp>
      <p:sp>
        <p:nvSpPr>
          <p:cNvPr id="27" name="TextBox 26"/>
          <p:cNvSpPr txBox="1"/>
          <p:nvPr/>
        </p:nvSpPr>
        <p:spPr>
          <a:xfrm>
            <a:off x="1234440" y="4123943"/>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Reliability &amp; probabilistic analysis</a:t>
            </a:r>
          </a:p>
        </p:txBody>
      </p:sp>
      <p:sp>
        <p:nvSpPr>
          <p:cNvPr id="28" name="TextBox 27"/>
          <p:cNvSpPr txBox="1"/>
          <p:nvPr/>
        </p:nvSpPr>
        <p:spPr>
          <a:xfrm>
            <a:off x="5577840" y="4123943"/>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VI-6 Reliability-Based Design; VI-5</a:t>
            </a:r>
          </a:p>
        </p:txBody>
      </p:sp>
      <p:sp>
        <p:nvSpPr>
          <p:cNvPr id="29" name="Rectangle 28"/>
          <p:cNvSpPr/>
          <p:nvPr/>
        </p:nvSpPr>
        <p:spPr>
          <a:xfrm>
            <a:off x="640080" y="4873751"/>
            <a:ext cx="10908792" cy="658368"/>
          </a:xfrm>
          <a:prstGeom prst="rect">
            <a:avLst/>
          </a:prstGeom>
          <a:solidFill>
            <a:srgbClr val="FFFFFF"/>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4873751"/>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873751"/>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11</a:t>
            </a:r>
          </a:p>
        </p:txBody>
      </p:sp>
      <p:sp>
        <p:nvSpPr>
          <p:cNvPr id="32" name="TextBox 31"/>
          <p:cNvSpPr txBox="1"/>
          <p:nvPr/>
        </p:nvSpPr>
        <p:spPr>
          <a:xfrm>
            <a:off x="1234440" y="4873751"/>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Life-cycle simulation</a:t>
            </a:r>
          </a:p>
        </p:txBody>
      </p:sp>
      <p:sp>
        <p:nvSpPr>
          <p:cNvPr id="33" name="TextBox 32"/>
          <p:cNvSpPr txBox="1"/>
          <p:nvPr/>
        </p:nvSpPr>
        <p:spPr>
          <a:xfrm>
            <a:off x="5577840" y="4873751"/>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VI-8 Monitoring, Maintenance, Repair; VI-6</a:t>
            </a:r>
          </a:p>
        </p:txBody>
      </p:sp>
      <p:sp>
        <p:nvSpPr>
          <p:cNvPr id="34" name="Rectangle 33"/>
          <p:cNvSpPr/>
          <p:nvPr/>
        </p:nvSpPr>
        <p:spPr>
          <a:xfrm>
            <a:off x="640080" y="5623559"/>
            <a:ext cx="10908792" cy="658368"/>
          </a:xfrm>
          <a:prstGeom prst="rect">
            <a:avLst/>
          </a:prstGeom>
          <a:solidFill>
            <a:srgbClr val="FBF8F1"/>
          </a:solidFill>
          <a:ln w="9525">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 y="5623559"/>
            <a:ext cx="457200" cy="658368"/>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623559"/>
            <a:ext cx="457200" cy="658368"/>
          </a:xfrm>
          <a:prstGeom prst="rect">
            <a:avLst/>
          </a:prstGeom>
          <a:noFill/>
        </p:spPr>
        <p:txBody>
          <a:bodyPr wrap="square" anchor="ctr" lIns="0" rIns="0" tIns="0" bIns="0">
            <a:spAutoFit/>
          </a:bodyPr>
          <a:lstStyle/>
          <a:p>
            <a:pPr algn="ctr">
              <a:lnSpc>
                <a:spcPct val="105000"/>
              </a:lnSpc>
              <a:spcBef>
                <a:spcPts val="0"/>
              </a:spcBef>
              <a:spcAft>
                <a:spcPts val="600"/>
              </a:spcAft>
            </a:pPr>
            <a:r>
              <a:rPr sz="1500" b="1">
                <a:solidFill>
                  <a:srgbClr val="FFFFFF"/>
                </a:solidFill>
                <a:latin typeface="Segoe UI"/>
              </a:rPr>
              <a:t>12</a:t>
            </a:r>
          </a:p>
        </p:txBody>
      </p:sp>
      <p:sp>
        <p:nvSpPr>
          <p:cNvPr id="37" name="TextBox 36"/>
          <p:cNvSpPr txBox="1"/>
          <p:nvPr/>
        </p:nvSpPr>
        <p:spPr>
          <a:xfrm>
            <a:off x="1234440" y="5623559"/>
            <a:ext cx="42062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D3A4F"/>
                </a:solidFill>
                <a:latin typeface="Segoe UI"/>
              </a:rPr>
              <a:t>Integration with planning tools</a:t>
            </a:r>
          </a:p>
        </p:txBody>
      </p:sp>
      <p:sp>
        <p:nvSpPr>
          <p:cNvPr id="38" name="TextBox 37"/>
          <p:cNvSpPr txBox="1"/>
          <p:nvPr/>
        </p:nvSpPr>
        <p:spPr>
          <a:xfrm>
            <a:off x="5577840" y="5623559"/>
            <a:ext cx="5879592" cy="658368"/>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23282D"/>
                </a:solidFill>
                <a:latin typeface="Segoe UI"/>
              </a:rPr>
              <a:t>V-1 (benefit-cost, decisions); V-3; V-7</a:t>
            </a:r>
          </a:p>
        </p:txBody>
      </p:sp>
      <p:sp>
        <p:nvSpPr>
          <p:cNvPr id="39" name="TextBox 38"/>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40" name="TextBox 39"/>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C8821E"/>
                </a:solidFill>
                <a:latin typeface="Segoe UI"/>
              </a:rPr>
              <a:t>COVERAGE GAPS</a:t>
            </a:r>
          </a:p>
        </p:txBody>
      </p:sp>
      <p:sp>
        <p:nvSpPr>
          <p:cNvPr id="5" name="TextBox 4"/>
          <p:cNvSpPr txBox="1"/>
          <p:nvPr/>
        </p:nvSpPr>
        <p:spPr>
          <a:xfrm>
            <a:off x="640080" y="786384"/>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2900" b="1">
                <a:solidFill>
                  <a:srgbClr val="1D3A4F"/>
                </a:solidFill>
                <a:latin typeface="Segoe UI"/>
              </a:rPr>
              <a:t>Where the CEM is thin, even before outdatedness</a:t>
            </a:r>
          </a:p>
        </p:txBody>
      </p:sp>
      <p:sp>
        <p:nvSpPr>
          <p:cNvPr id="6" name="TextBox 5"/>
          <p:cNvSpPr txBox="1"/>
          <p:nvPr/>
        </p:nvSpPr>
        <p:spPr>
          <a:xfrm>
            <a:off x="640080" y="1828800"/>
            <a:ext cx="10881360" cy="548640"/>
          </a:xfrm>
          <a:prstGeom prst="rect">
            <a:avLst/>
          </a:prstGeom>
          <a:noFill/>
        </p:spPr>
        <p:txBody>
          <a:bodyPr wrap="square" anchor="t" lIns="0" rIns="0" tIns="0" bIns="0">
            <a:spAutoFit/>
          </a:bodyPr>
          <a:lstStyle/>
          <a:p>
            <a:pPr algn="l">
              <a:lnSpc>
                <a:spcPct val="112000"/>
              </a:lnSpc>
              <a:spcBef>
                <a:spcPts val="0"/>
              </a:spcBef>
              <a:spcAft>
                <a:spcPts val="600"/>
              </a:spcAft>
            </a:pPr>
            <a:r>
              <a:rPr sz="1550" b="0">
                <a:solidFill>
                  <a:srgbClr val="23282D"/>
                </a:solidFill>
                <a:latin typeface="Segoe UI"/>
              </a:rPr>
              <a:t>Two cross-cutting capabilities are present in the CEM only as separate, mostly deterministic treatments, not as integrated frameworks. Both are natural targets for modernization.</a:t>
            </a:r>
          </a:p>
        </p:txBody>
      </p:sp>
      <p:sp>
        <p:nvSpPr>
          <p:cNvPr id="7" name="Rounded Rectangle 6"/>
          <p:cNvSpPr/>
          <p:nvPr/>
        </p:nvSpPr>
        <p:spPr>
          <a:xfrm>
            <a:off x="640080" y="2743200"/>
            <a:ext cx="10908792" cy="1371600"/>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743200"/>
            <a:ext cx="91440" cy="1371600"/>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80"/>
            <a:ext cx="10332720" cy="365760"/>
          </a:xfrm>
          <a:prstGeom prst="rect">
            <a:avLst/>
          </a:prstGeom>
          <a:noFill/>
        </p:spPr>
        <p:txBody>
          <a:bodyPr wrap="square" anchor="t" lIns="0" rIns="0" tIns="0" bIns="0">
            <a:spAutoFit/>
          </a:bodyPr>
          <a:lstStyle/>
          <a:p>
            <a:pPr algn="l">
              <a:lnSpc>
                <a:spcPct val="105000"/>
              </a:lnSpc>
              <a:spcBef>
                <a:spcPts val="0"/>
              </a:spcBef>
              <a:spcAft>
                <a:spcPts val="600"/>
              </a:spcAft>
            </a:pPr>
            <a:r>
              <a:rPr sz="1600" b="1">
                <a:solidFill>
                  <a:srgbClr val="C8821E"/>
                </a:solidFill>
                <a:latin typeface="Segoe UI"/>
              </a:rPr>
              <a:t>Probabilistic life-cycle simulation</a:t>
            </a:r>
          </a:p>
        </p:txBody>
      </p:sp>
      <p:sp>
        <p:nvSpPr>
          <p:cNvPr id="10" name="TextBox 9"/>
          <p:cNvSpPr txBox="1"/>
          <p:nvPr/>
        </p:nvSpPr>
        <p:spPr>
          <a:xfrm>
            <a:off x="914400" y="3328416"/>
            <a:ext cx="10332720" cy="731520"/>
          </a:xfrm>
          <a:prstGeom prst="rect">
            <a:avLst/>
          </a:prstGeom>
          <a:noFill/>
        </p:spPr>
        <p:txBody>
          <a:bodyPr wrap="square" anchor="t" lIns="0" rIns="0" tIns="0" bIns="0">
            <a:spAutoFit/>
          </a:bodyPr>
          <a:lstStyle/>
          <a:p>
            <a:pPr algn="l">
              <a:lnSpc>
                <a:spcPct val="110000"/>
              </a:lnSpc>
              <a:spcBef>
                <a:spcPts val="0"/>
              </a:spcBef>
              <a:spcAft>
                <a:spcPts val="600"/>
              </a:spcAft>
            </a:pPr>
            <a:r>
              <a:rPr sz="1400" b="0">
                <a:solidFill>
                  <a:srgbClr val="23282D"/>
                </a:solidFill>
                <a:latin typeface="Segoe UI"/>
              </a:rPr>
              <a:t>Topics 5, 10, and 11 (storm-hazard analysis, reliability, life-cycle) exist, but as separate deterministic / analytic treatments rather than one integrated stochastic life-cycle framework.</a:t>
            </a:r>
          </a:p>
        </p:txBody>
      </p:sp>
      <p:sp>
        <p:nvSpPr>
          <p:cNvPr id="11" name="Rounded Rectangle 10"/>
          <p:cNvSpPr/>
          <p:nvPr/>
        </p:nvSpPr>
        <p:spPr>
          <a:xfrm>
            <a:off x="640080" y="4297680"/>
            <a:ext cx="10908792" cy="1371600"/>
          </a:xfrm>
          <a:prstGeom prst="roundRect">
            <a:avLst/>
          </a:prstGeom>
          <a:solidFill>
            <a:srgbClr val="FFFFFF"/>
          </a:solidFill>
          <a:ln w="12700">
            <a:solidFill>
              <a:srgbClr val="E3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4297680"/>
            <a:ext cx="91440" cy="1371600"/>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480560"/>
            <a:ext cx="10332720" cy="365760"/>
          </a:xfrm>
          <a:prstGeom prst="rect">
            <a:avLst/>
          </a:prstGeom>
          <a:noFill/>
        </p:spPr>
        <p:txBody>
          <a:bodyPr wrap="square" anchor="t" lIns="0" rIns="0" tIns="0" bIns="0">
            <a:spAutoFit/>
          </a:bodyPr>
          <a:lstStyle/>
          <a:p>
            <a:pPr algn="l">
              <a:lnSpc>
                <a:spcPct val="105000"/>
              </a:lnSpc>
              <a:spcBef>
                <a:spcPts val="0"/>
              </a:spcBef>
              <a:spcAft>
                <a:spcPts val="600"/>
              </a:spcAft>
            </a:pPr>
            <a:r>
              <a:rPr sz="1600" b="1">
                <a:solidFill>
                  <a:srgbClr val="2A7D8C"/>
                </a:solidFill>
                <a:latin typeface="Segoe UI"/>
              </a:rPr>
              <a:t>Integration with modern planning / decision-support tools</a:t>
            </a:r>
          </a:p>
        </p:txBody>
      </p:sp>
      <p:sp>
        <p:nvSpPr>
          <p:cNvPr id="14" name="TextBox 13"/>
          <p:cNvSpPr txBox="1"/>
          <p:nvPr/>
        </p:nvSpPr>
        <p:spPr>
          <a:xfrm>
            <a:off x="914400" y="4882896"/>
            <a:ext cx="10332720" cy="731520"/>
          </a:xfrm>
          <a:prstGeom prst="rect">
            <a:avLst/>
          </a:prstGeom>
          <a:noFill/>
        </p:spPr>
        <p:txBody>
          <a:bodyPr wrap="square" anchor="t" lIns="0" rIns="0" tIns="0" bIns="0">
            <a:spAutoFit/>
          </a:bodyPr>
          <a:lstStyle/>
          <a:p>
            <a:pPr algn="l">
              <a:lnSpc>
                <a:spcPct val="110000"/>
              </a:lnSpc>
              <a:spcBef>
                <a:spcPts val="0"/>
              </a:spcBef>
              <a:spcAft>
                <a:spcPts val="600"/>
              </a:spcAft>
            </a:pPr>
            <a:r>
              <a:rPr sz="1400" b="0">
                <a:solidFill>
                  <a:srgbClr val="23282D"/>
                </a:solidFill>
                <a:latin typeface="Segoe UI"/>
              </a:rPr>
              <a:t>Topic 12 is process-and-economics oriented and predates current risk-informed decision platforms; the CEM does not connect its methods to them.</a:t>
            </a:r>
          </a:p>
        </p:txBody>
      </p:sp>
      <p:sp>
        <p:nvSpPr>
          <p:cNvPr id="15" name="TextBox 14"/>
          <p:cNvSpPr txBox="1"/>
          <p:nvPr/>
        </p:nvSpPr>
        <p:spPr>
          <a:xfrm>
            <a:off x="640080" y="6437376"/>
            <a:ext cx="9144000" cy="292608"/>
          </a:xfrm>
          <a:prstGeom prst="rect">
            <a:avLst/>
          </a:prstGeom>
          <a:noFill/>
        </p:spPr>
        <p:txBody>
          <a:bodyPr wrap="square" anchor="t" lIns="0" rIns="0" tIns="0" bIns="0">
            <a:spAutoFit/>
          </a:bodyPr>
          <a:lstStyle/>
          <a:p>
            <a:pPr algn="l">
              <a:lnSpc>
                <a:spcPct val="105000"/>
              </a:lnSpc>
              <a:spcBef>
                <a:spcPts val="0"/>
              </a:spcBef>
              <a:spcAft>
                <a:spcPts val="600"/>
              </a:spcAft>
            </a:pPr>
            <a:r>
              <a:rPr sz="900" b="0">
                <a:solidFill>
                  <a:srgbClr val="6B7280"/>
                </a:solidFill>
                <a:latin typeface="Segoe UI"/>
              </a:rPr>
              <a:t>CHESS Technical Guidance  ·  Coastal Engineering Manual Modernization Plan</a:t>
            </a:r>
          </a:p>
        </p:txBody>
      </p:sp>
      <p:sp>
        <p:nvSpPr>
          <p:cNvPr id="16" name="TextBox 15"/>
          <p:cNvSpPr txBox="1"/>
          <p:nvPr/>
        </p:nvSpPr>
        <p:spPr>
          <a:xfrm>
            <a:off x="10972800" y="6437376"/>
            <a:ext cx="914400" cy="292608"/>
          </a:xfrm>
          <a:prstGeom prst="rect">
            <a:avLst/>
          </a:prstGeom>
          <a:noFill/>
        </p:spPr>
        <p:txBody>
          <a:bodyPr wrap="square" anchor="t" lIns="0" rIns="0" tIns="0" bIns="0">
            <a:spAutoFit/>
          </a:bodyPr>
          <a:lstStyle/>
          <a:p>
            <a:pPr algn="r">
              <a:lnSpc>
                <a:spcPct val="105000"/>
              </a:lnSpc>
              <a:spcBef>
                <a:spcPts val="0"/>
              </a:spcBef>
              <a:spcAft>
                <a:spcPts val="600"/>
              </a:spcAft>
            </a:pPr>
            <a:r>
              <a:rPr sz="900" b="0">
                <a:solidFill>
                  <a:srgbClr val="6B728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C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80160"/>
            <a:ext cx="10515600" cy="914400"/>
          </a:xfrm>
          <a:prstGeom prst="rect">
            <a:avLst/>
          </a:prstGeom>
          <a:noFill/>
        </p:spPr>
        <p:txBody>
          <a:bodyPr wrap="square" anchor="t" lIns="0" rIns="0" tIns="0" bIns="0">
            <a:spAutoFit/>
          </a:bodyPr>
          <a:lstStyle/>
          <a:p>
            <a:pPr algn="l">
              <a:lnSpc>
                <a:spcPct val="105000"/>
              </a:lnSpc>
              <a:spcBef>
                <a:spcPts val="0"/>
              </a:spcBef>
              <a:spcAft>
                <a:spcPts val="600"/>
              </a:spcAft>
            </a:pPr>
            <a:r>
              <a:rPr sz="3400" b="1">
                <a:solidFill>
                  <a:srgbClr val="FFFFFF"/>
                </a:solidFill>
                <a:latin typeface="Segoe UI"/>
              </a:rPr>
              <a:t>A foundation to build on, not to retire</a:t>
            </a:r>
          </a:p>
        </p:txBody>
      </p:sp>
      <p:sp>
        <p:nvSpPr>
          <p:cNvPr id="5" name="Rectangle 4"/>
          <p:cNvSpPr/>
          <p:nvPr/>
        </p:nvSpPr>
        <p:spPr>
          <a:xfrm>
            <a:off x="868680" y="2286000"/>
            <a:ext cx="2377440" cy="45720"/>
          </a:xfrm>
          <a:prstGeom prst="rect">
            <a:avLst/>
          </a:prstGeom>
          <a:solidFill>
            <a:srgbClr val="2A7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06040"/>
            <a:ext cx="10424160" cy="2560320"/>
          </a:xfrm>
          <a:prstGeom prst="rect">
            <a:avLst/>
          </a:prstGeom>
          <a:noFill/>
        </p:spPr>
        <p:txBody>
          <a:bodyPr wrap="square" anchor="t" lIns="0" rIns="0" tIns="0" bIns="0">
            <a:spAutoFit/>
          </a:bodyPr>
          <a:lstStyle/>
          <a:p>
            <a:pPr algn="l">
              <a:lnSpc>
                <a:spcPct val="106000"/>
              </a:lnSpc>
              <a:spcBef>
                <a:spcPts val="0"/>
              </a:spcBef>
              <a:spcAft>
                <a:spcPts val="1300"/>
              </a:spcAft>
            </a:pPr>
            <a:r>
              <a:rPr sz="1700" b="1">
                <a:solidFill>
                  <a:srgbClr val="C8821E"/>
                </a:solidFill>
                <a:latin typeface="Segoe UI"/>
              </a:rPr>
              <a:t>▪  </a:t>
            </a:r>
            <a:r>
              <a:rPr sz="1700" b="0">
                <a:solidFill>
                  <a:srgbClr val="E6ECF0"/>
                </a:solidFill>
                <a:latin typeface="Segoe UI"/>
              </a:rPr>
              <a:t>The CEM remains a strong foundational reference; the 78 items mark where current guidance supersedes it, and the high-priority items are independently verified.</a:t>
            </a:r>
          </a:p>
          <a:p>
            <a:pPr algn="l">
              <a:lnSpc>
                <a:spcPct val="106000"/>
              </a:lnSpc>
              <a:spcBef>
                <a:spcPts val="0"/>
              </a:spcBef>
              <a:spcAft>
                <a:spcPts val="1300"/>
              </a:spcAft>
            </a:pPr>
            <a:r>
              <a:rPr sz="1700" b="1">
                <a:solidFill>
                  <a:srgbClr val="C8821E"/>
                </a:solidFill>
                <a:latin typeface="Segoe UI"/>
              </a:rPr>
              <a:t>▪  </a:t>
            </a:r>
            <a:r>
              <a:rPr sz="1700" b="0">
                <a:solidFill>
                  <a:srgbClr val="E6ECF0"/>
                </a:solidFill>
                <a:latin typeface="Segoe UI"/>
              </a:rPr>
              <a:t>The largest, most consistent driver is sea-level rise and climate adaptation, now a required design input under USACE policy rather than background awareness.</a:t>
            </a:r>
          </a:p>
          <a:p>
            <a:pPr algn="l">
              <a:lnSpc>
                <a:spcPct val="106000"/>
              </a:lnSpc>
              <a:spcBef>
                <a:spcPts val="0"/>
              </a:spcBef>
              <a:spcAft>
                <a:spcPts val="1300"/>
              </a:spcAft>
            </a:pPr>
            <a:r>
              <a:rPr sz="1700" b="1">
                <a:solidFill>
                  <a:srgbClr val="C8821E"/>
                </a:solidFill>
                <a:latin typeface="Segoe UI"/>
              </a:rPr>
              <a:t>▪  </a:t>
            </a:r>
            <a:r>
              <a:rPr sz="1700" b="0">
                <a:solidFill>
                  <a:srgbClr val="E6ECF0"/>
                </a:solidFill>
                <a:latin typeface="Segoe UI"/>
              </a:rPr>
              <a:t>The next step is a prioritized modernization program that applies the verified replacements through current USACE ERDC-CHL guidance and the Coastal Hazards System.</a:t>
            </a:r>
          </a:p>
        </p:txBody>
      </p:sp>
      <p:sp>
        <p:nvSpPr>
          <p:cNvPr id="7" name="TextBox 6"/>
          <p:cNvSpPr txBox="1"/>
          <p:nvPr/>
        </p:nvSpPr>
        <p:spPr>
          <a:xfrm>
            <a:off x="822960" y="5897880"/>
            <a:ext cx="10515600" cy="365760"/>
          </a:xfrm>
          <a:prstGeom prst="rect">
            <a:avLst/>
          </a:prstGeom>
          <a:noFill/>
        </p:spPr>
        <p:txBody>
          <a:bodyPr wrap="square" anchor="t" lIns="0" rIns="0" tIns="0" bIns="0">
            <a:spAutoFit/>
          </a:bodyPr>
          <a:lstStyle/>
          <a:p>
            <a:pPr algn="l">
              <a:lnSpc>
                <a:spcPct val="105000"/>
              </a:lnSpc>
              <a:spcBef>
                <a:spcPts val="0"/>
              </a:spcBef>
              <a:spcAft>
                <a:spcPts val="600"/>
              </a:spcAft>
            </a:pPr>
            <a:r>
              <a:rPr sz="1350" b="1">
                <a:solidFill>
                  <a:srgbClr val="C8821E"/>
                </a:solidFill>
                <a:latin typeface="Segoe UI"/>
              </a:rPr>
              <a:t>Full detail, references, and per-Part tables: docs/CEM_Modernization_Plan.md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